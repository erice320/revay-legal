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9B4D9"/>
                </a:solidFill>
              </a:rPr>
              <a:t>CONFIDENTIAL — INTERNAL USE ONLY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9144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PSA Web GTM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Performance Analysis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D4EA"/>
                </a:solidFill>
              </a:rPr>
              <a:t>Phases 1–6: Baseline · Funnel Autopsy · Rep Benchmarking · ICP Analysis · Quick Wins · 5× Math Model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0515600" cy="0"/>
          </a:xfrm>
          <a:prstGeom prst="line">
            <a:avLst/>
          </a:prstGeom>
          <a:noFill/>
          <a:ln w="12700">
            <a:solidFill>
              <a:srgbClr val="2A5A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175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115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35204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9B4D9"/>
                </a:solidFill>
              </a:rPr>
              <a:t>PSA Web Wins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11880" y="30175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$75,940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611880" y="35204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9B4D9"/>
                </a:solidFill>
              </a:rPr>
              <a:t>Total MRR Won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30175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9.2%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583680" y="35204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9B4D9"/>
                </a:solidFill>
              </a:rPr>
              <a:t>Win Rate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555480" y="30175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5×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555480" y="35204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9B4D9"/>
                </a:solidFill>
              </a:rPr>
              <a:t>Bookings Target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4069080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A9B"/>
                </a:solidFill>
              </a:rPr>
              <a:t>Data as of February 24, 2026  |  Salesforce PSA Web (post-launch Jun 29, 2025)  |  Prepared by Revay AI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The Headline: 67% of Losses Are Fixable. The Market Is Untapped.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15568"/>
            <a:ext cx="5577840" cy="73152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188720"/>
            <a:ext cx="5577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2336" y="1243584"/>
            <a:ext cx="5321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🔴 The Execution Problem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02336" y="1499616"/>
            <a:ext cx="53218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Discovery No-Shows account for 34.8% of all losses — the prospect ghosted the demo before it started. Not Right Time adds 17.2% more. Only 1.6% are competitive losses. This is a show-rate problem, not a product problem.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035040" y="1115568"/>
            <a:ext cx="5669280" cy="73152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Shape 10"/>
          <p:cNvSpPr/>
          <p:nvPr/>
        </p:nvSpPr>
        <p:spPr>
          <a:xfrm>
            <a:off x="6035040" y="1188720"/>
            <a:ext cx="56692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63056" y="1243584"/>
            <a:ext cx="5413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🟢 The Market Opportunity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63056" y="1499616"/>
            <a:ext cx="5413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62% of PSA Web wins came from security integrators and AV companies — a "bridge market." Real ICP (IT MSPs on CW/Kaseya/Halo) = only 11 wins out of 115. That market is essentially untouched. Product is now ready.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331720"/>
            <a:ext cx="5577840" cy="73152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6" name="Shape 14"/>
          <p:cNvSpPr/>
          <p:nvPr/>
        </p:nvSpPr>
        <p:spPr>
          <a:xfrm>
            <a:off x="274320" y="2404872"/>
            <a:ext cx="5577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336" y="2459736"/>
            <a:ext cx="5321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⚡ 3 Near-Term Levers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02336" y="2715768"/>
            <a:ext cx="53218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1. Fix show rates — Dahlstrom at 2.6% vs 35% team avg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2. Billing cross-sell — 3× win rate, $1,433 avg deal, 52 lost prospects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3. Rebalance marketing — SEO/website at 32%/21% win rate vs paid media at 3.3%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35040" y="2331720"/>
            <a:ext cx="5669280" cy="73152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20" name="Shape 18"/>
          <p:cNvSpPr/>
          <p:nvPr/>
        </p:nvSpPr>
        <p:spPr>
          <a:xfrm>
            <a:off x="6035040" y="2404872"/>
            <a:ext cx="56692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63056" y="2459736"/>
            <a:ext cx="5413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📐 The 5× Path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63056" y="2715768"/>
            <a:ext cx="5413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No single fix reaches 5×. The math requires: (1) execution fixes in Q1, (2) near-term pipeline activation in Q2, and (3) IT MSP market development in H2. Each phase modeled in Section 7.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3584448"/>
            <a:ext cx="11430000" cy="109728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7490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🔑 Core Finding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5488" y="4059936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67% of losses happened before product was ever evaluated — fix the front of the funnel first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5488" y="440740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The real ICP (IT MSPs) was underserved while the product was being built — that changes now with Apollo 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5488" y="4754880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5× is achievable in 12–18 months with the right sequencing: fix → activate → expand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1 — BASELINE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7 Months In: $9,526/Mo Average — Decelerating Since October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43000"/>
            <a:ext cx="2103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84048" y="1188720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115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" y="1636776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Total Wins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14600" y="1143000"/>
            <a:ext cx="22860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24328" y="1188720"/>
            <a:ext cx="20665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$75,940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587752" y="1636776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Total MRR Won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937760" y="1143000"/>
            <a:ext cx="2103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47488" y="1188720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$660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010912" y="1636776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Avg MRR / Deal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178040" y="1143000"/>
            <a:ext cx="2103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87768" y="1188720"/>
            <a:ext cx="1883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7AE60"/>
                </a:solidFill>
              </a:rPr>
              <a:t>$9,526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251192" y="1636776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Mo. Avg (Jul–Jan)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9418320" y="1143000"/>
            <a:ext cx="21945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528048" y="118872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463A"/>
                </a:solidFill>
              </a:rPr>
              <a:t>5×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491472" y="1636776"/>
            <a:ext cx="20482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Bookings Target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" y="2893039"/>
            <a:ext cx="1291590" cy="947441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2691871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$9K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7432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Jul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4320" y="4041648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7.7%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703070" y="3049757"/>
            <a:ext cx="1291590" cy="790723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1703070" y="2848589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$7K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70307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Aug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703070" y="4041648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6.1%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131820" y="2955173"/>
            <a:ext cx="1291590" cy="885307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3131820" y="2754005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$8K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13182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Sep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131820" y="4041648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AE60"/>
                </a:solidFill>
              </a:rPr>
              <a:t>12.2%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560570" y="2194560"/>
            <a:ext cx="1291590" cy="1645920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35" name="Text 33"/>
          <p:cNvSpPr/>
          <p:nvPr/>
        </p:nvSpPr>
        <p:spPr>
          <a:xfrm>
            <a:off x="4560570" y="1993392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8463A"/>
                </a:solidFill>
              </a:rPr>
              <a:t>$15K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56057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Oct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560570" y="4041648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10.1%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989320" y="2800795"/>
            <a:ext cx="1291590" cy="1039685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9" name="Text 37"/>
          <p:cNvSpPr/>
          <p:nvPr/>
        </p:nvSpPr>
        <p:spPr>
          <a:xfrm>
            <a:off x="5989320" y="2599627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$10K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98932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Nov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989320" y="4041648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6.1%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418070" y="2665355"/>
            <a:ext cx="1291590" cy="1175125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43" name="Text 41"/>
          <p:cNvSpPr/>
          <p:nvPr/>
        </p:nvSpPr>
        <p:spPr>
          <a:xfrm>
            <a:off x="7418070" y="2464187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$11K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41807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Dec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8846820" y="3229777"/>
            <a:ext cx="1291590" cy="610703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46" name="Text 44"/>
          <p:cNvSpPr/>
          <p:nvPr/>
        </p:nvSpPr>
        <p:spPr>
          <a:xfrm>
            <a:off x="8846820" y="3028609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$6K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884682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Jan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846820" y="4041648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8463A"/>
                </a:solidFill>
              </a:rPr>
              <a:t>4.7%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0275570" y="3153705"/>
            <a:ext cx="1291590" cy="686775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50" name="Text 48"/>
          <p:cNvSpPr/>
          <p:nvPr/>
        </p:nvSpPr>
        <p:spPr>
          <a:xfrm>
            <a:off x="10275570" y="2952537"/>
            <a:ext cx="12915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2540"/>
                </a:solidFill>
              </a:rPr>
              <a:t>$6K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0275570" y="3877056"/>
            <a:ext cx="129159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Feb*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74320" y="404164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B7F93"/>
                </a:solidFill>
              </a:rPr>
              <a:t>Win Rate: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274320" y="4224528"/>
            <a:ext cx="11430000" cy="73152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54" name="Shape 52"/>
          <p:cNvSpPr/>
          <p:nvPr/>
        </p:nvSpPr>
        <p:spPr>
          <a:xfrm>
            <a:off x="274320" y="4297680"/>
            <a:ext cx="11430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02336" y="4352544"/>
            <a:ext cx="11173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⚠️ The Deceleration Signal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02336" y="4608576"/>
            <a:ext cx="111739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October peaked at $15,470 (22 wins). January had MORE pipeline (201 closures) but the WORST win rate (4.7%) — 2.6× lower than September. Pipeline volume is not the problem. Diagnosing the quality/execution collapse between October and January is the critical unlock.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2 — FUNNEL AUTOPSY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The Funnel Breaks at the Front: 34.8% Never Show Up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1155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F2540"/>
                </a:solidFill>
              </a:rPr>
              <a:t>LOSS REASONS — 1,137 DEALS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417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Discovery No-Show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51760" y="1453896"/>
            <a:ext cx="5486400" cy="219456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0" y="1417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396 deals  34.8%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74320" y="18013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Not Right Time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651760" y="1837944"/>
            <a:ext cx="2701636" cy="219456"/>
          </a:xfrm>
          <a:prstGeom prst="rect">
            <a:avLst/>
          </a:prstGeom>
          <a:solidFill>
            <a:srgbClr val="E07B31"/>
          </a:solidFill>
          <a:ln/>
        </p:spPr>
      </p:sp>
      <p:sp>
        <p:nvSpPr>
          <p:cNvPr id="13" name="Text 11"/>
          <p:cNvSpPr/>
          <p:nvPr/>
        </p:nvSpPr>
        <p:spPr>
          <a:xfrm>
            <a:off x="5444836" y="18013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195 deals  17.2%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74320" y="21854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Missing Features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651760" y="2221992"/>
            <a:ext cx="2327564" cy="21945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6" name="Text 14"/>
          <p:cNvSpPr/>
          <p:nvPr/>
        </p:nvSpPr>
        <p:spPr>
          <a:xfrm>
            <a:off x="5070764" y="21854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168 deals  14.8%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74320" y="256946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No Decision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651760" y="2606040"/>
            <a:ext cx="1648691" cy="219456"/>
          </a:xfrm>
          <a:prstGeom prst="rect">
            <a:avLst/>
          </a:prstGeom>
          <a:solidFill>
            <a:srgbClr val="777777"/>
          </a:solidFill>
          <a:ln/>
        </p:spPr>
      </p:sp>
      <p:sp>
        <p:nvSpPr>
          <p:cNvPr id="19" name="Text 17"/>
          <p:cNvSpPr/>
          <p:nvPr/>
        </p:nvSpPr>
        <p:spPr>
          <a:xfrm>
            <a:off x="4391891" y="256946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119 deals  10.5%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74320" y="29535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Price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651760" y="2990088"/>
            <a:ext cx="1108364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22" name="Text 20"/>
          <p:cNvSpPr/>
          <p:nvPr/>
        </p:nvSpPr>
        <p:spPr>
          <a:xfrm>
            <a:off x="3851564" y="29535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80 deals  7.0%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74320" y="3337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Lost to Competitor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651760" y="3374136"/>
            <a:ext cx="249382" cy="219456"/>
          </a:xfrm>
          <a:prstGeom prst="rect">
            <a:avLst/>
          </a:prstGeom>
          <a:solidFill>
            <a:srgbClr val="AAAAAA"/>
          </a:solidFill>
          <a:ln/>
        </p:spPr>
      </p:sp>
      <p:sp>
        <p:nvSpPr>
          <p:cNvPr id="25" name="Text 23"/>
          <p:cNvSpPr/>
          <p:nvPr/>
        </p:nvSpPr>
        <p:spPr>
          <a:xfrm>
            <a:off x="2992582" y="3337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18 deals  1.6%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035040" y="1115568"/>
            <a:ext cx="0" cy="310896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11155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F2540"/>
                </a:solidFill>
              </a:rPr>
              <a:t>CYCLE TIME (WINS ONLY)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1417320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27648" y="1463040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9 Days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291072" y="1911096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Median to Close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006840" y="1417320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116568" y="1463040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12.6 Days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9079992" y="1911096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Avg to Close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217920" y="2395728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27648" y="2441448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7AE60"/>
                </a:solidFill>
              </a:rPr>
              <a:t>41%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291072" y="288950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Close ≤7 Days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9006840" y="2395728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9116568" y="2441448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463A"/>
                </a:solidFill>
              </a:rPr>
              <a:t>9%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9079992" y="288950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Take 30+ Days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217920" y="3383280"/>
            <a:ext cx="5394960" cy="73152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1" name="Shape 39"/>
          <p:cNvSpPr/>
          <p:nvPr/>
        </p:nvSpPr>
        <p:spPr>
          <a:xfrm>
            <a:off x="6217920" y="3456432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45936" y="3511296"/>
            <a:ext cx="5138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✅ Speed = Signal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345936" y="3767328"/>
            <a:ext cx="513892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Abarno median: 5 days. Fast cycles = qualified buyers. Herndon averages 25 days but wins $1,153/deal — the only exception worth studying. Everything else: if it drags, it likely dies.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4320" y="4224528"/>
            <a:ext cx="11430000" cy="9144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5" name="Text 43"/>
          <p:cNvSpPr/>
          <p:nvPr/>
        </p:nvSpPr>
        <p:spPr>
          <a:xfrm>
            <a:off x="475488" y="438912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🔑 Key: 67% of Losses Are Pre-Product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75488" y="4700016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No-Show (35%) + Not Right Time (17%) + No Decision (11%) = 63% of losses never evaluated the product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75488" y="504748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Competitive losses = only 1.6% — do NOT invest in competitive positioning at the expense of execution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3 — REP BENCHMARKING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Two Failure Modes: Show Rate vs. Conversion. Flynn Has the Most Meetings and the Worst Close Rate.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" y="1078992"/>
            <a:ext cx="11978640" cy="246888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" y="1097280"/>
            <a:ext cx="207568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Rep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276856" y="1097280"/>
            <a:ext cx="52120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Total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2871216" y="1097280"/>
            <a:ext cx="585216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No-Show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529584" y="1097280"/>
            <a:ext cx="47548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NS%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078224" y="1097280"/>
            <a:ext cx="70408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Completed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855464" y="1097280"/>
            <a:ext cx="38404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Wins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312664" y="1097280"/>
            <a:ext cx="52120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Win/All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07024" y="1097280"/>
            <a:ext cx="749808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Win/Completed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729984" y="1097280"/>
            <a:ext cx="173736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Assessment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1440" y="1335024"/>
            <a:ext cx="1197864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128016" y="1371600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Patrick Davies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2276856" y="1371600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158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871216" y="1371600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58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529584" y="1371600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36.7%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4078224" y="1371600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100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855464" y="137160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312664" y="1371600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3.2%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907024" y="1371600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5.0%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729984" y="137160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Conversion Crisis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91440" y="1600200"/>
            <a:ext cx="11978640" cy="246888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28" name="Text 26"/>
          <p:cNvSpPr/>
          <p:nvPr/>
        </p:nvSpPr>
        <p:spPr>
          <a:xfrm>
            <a:off x="128016" y="1636776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Jake Mitchell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2276856" y="1636776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156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871216" y="1636776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50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529584" y="1636776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32.1%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078224" y="1636776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106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855464" y="1636776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8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5312664" y="1636776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5.1%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5907024" y="1636776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7.5%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6729984" y="1636776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39C12"/>
                </a:solidFill>
              </a:rPr>
              <a:t>Fix Both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91440" y="1865376"/>
            <a:ext cx="1197864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28016" y="1901952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Husam Zalmiyar</a:t>
            </a:r>
            <a:endParaRPr lang="en-US" sz="780" dirty="0"/>
          </a:p>
        </p:txBody>
      </p:sp>
      <p:sp>
        <p:nvSpPr>
          <p:cNvPr id="39" name="Text 37"/>
          <p:cNvSpPr/>
          <p:nvPr/>
        </p:nvSpPr>
        <p:spPr>
          <a:xfrm>
            <a:off x="2276856" y="1901952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131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2871216" y="1901952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57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3529584" y="1901952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43.5%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078224" y="1901952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74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855464" y="1901952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5312664" y="1901952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3.8%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5907024" y="190195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6.8%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6729984" y="1901952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Show Rate: Urgent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91440" y="2130552"/>
            <a:ext cx="11978640" cy="246888"/>
          </a:xfrm>
          <a:prstGeom prst="rect">
            <a:avLst/>
          </a:prstGeom>
          <a:solidFill>
            <a:srgbClr val="FFF8F0"/>
          </a:solidFill>
          <a:ln/>
        </p:spPr>
      </p:sp>
      <p:sp>
        <p:nvSpPr>
          <p:cNvPr id="48" name="Text 46"/>
          <p:cNvSpPr/>
          <p:nvPr/>
        </p:nvSpPr>
        <p:spPr>
          <a:xfrm>
            <a:off x="128016" y="2167128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Connor Flynn</a:t>
            </a:r>
            <a:endParaRPr lang="en-US" sz="780" dirty="0"/>
          </a:p>
        </p:txBody>
      </p:sp>
      <p:sp>
        <p:nvSpPr>
          <p:cNvPr id="49" name="Text 47"/>
          <p:cNvSpPr/>
          <p:nvPr/>
        </p:nvSpPr>
        <p:spPr>
          <a:xfrm>
            <a:off x="2276856" y="2167128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130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2871216" y="2167128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21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3529584" y="2167128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7AE60"/>
                </a:solidFill>
              </a:rPr>
              <a:t>16.2%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078224" y="2167128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109★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4855464" y="2167128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5312664" y="2167128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4.6%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5907024" y="2167128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5.5%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6729984" y="2167128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Best Show→Worst Close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91440" y="2395728"/>
            <a:ext cx="1197864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128016" y="2432304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Jake Borah</a:t>
            </a:r>
            <a:endParaRPr lang="en-US" sz="780" dirty="0"/>
          </a:p>
        </p:txBody>
      </p:sp>
      <p:sp>
        <p:nvSpPr>
          <p:cNvPr id="59" name="Text 57"/>
          <p:cNvSpPr/>
          <p:nvPr/>
        </p:nvSpPr>
        <p:spPr>
          <a:xfrm>
            <a:off x="2276856" y="2432304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115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2871216" y="2432304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46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3529584" y="2432304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40.0%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4078224" y="2432304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69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4855464" y="2432304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9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5312664" y="2432304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7.8%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5907024" y="2432304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13.0%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6729984" y="243230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39C12"/>
                </a:solidFill>
              </a:rPr>
              <a:t>Fix Show Rate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91440" y="2660904"/>
            <a:ext cx="11978640" cy="246888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68" name="Text 66"/>
          <p:cNvSpPr/>
          <p:nvPr/>
        </p:nvSpPr>
        <p:spPr>
          <a:xfrm>
            <a:off x="128016" y="2697480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Jaylin Bender</a:t>
            </a:r>
            <a:endParaRPr lang="en-US" sz="780" dirty="0"/>
          </a:p>
        </p:txBody>
      </p:sp>
      <p:sp>
        <p:nvSpPr>
          <p:cNvPr id="69" name="Text 67"/>
          <p:cNvSpPr/>
          <p:nvPr/>
        </p:nvSpPr>
        <p:spPr>
          <a:xfrm>
            <a:off x="2276856" y="2697480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92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2871216" y="2697480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33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3529584" y="2697480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35.9%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4078224" y="2697480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59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4855464" y="269748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5312664" y="2697480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5.4%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5907024" y="2697480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8.5%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6729984" y="269748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39C12"/>
                </a:solidFill>
              </a:rPr>
              <a:t>Fix Show Rate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91440" y="2926080"/>
            <a:ext cx="11978640" cy="246888"/>
          </a:xfrm>
          <a:prstGeom prst="rect">
            <a:avLst/>
          </a:prstGeom>
          <a:solidFill>
            <a:srgbClr val="EFFFEF"/>
          </a:solidFill>
          <a:ln/>
        </p:spPr>
      </p:sp>
      <p:sp>
        <p:nvSpPr>
          <p:cNvPr id="78" name="Text 76"/>
          <p:cNvSpPr/>
          <p:nvPr/>
        </p:nvSpPr>
        <p:spPr>
          <a:xfrm>
            <a:off x="128016" y="2962656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Joseph Abarno</a:t>
            </a:r>
            <a:endParaRPr lang="en-US" sz="780" dirty="0"/>
          </a:p>
        </p:txBody>
      </p:sp>
      <p:sp>
        <p:nvSpPr>
          <p:cNvPr id="79" name="Text 77"/>
          <p:cNvSpPr/>
          <p:nvPr/>
        </p:nvSpPr>
        <p:spPr>
          <a:xfrm>
            <a:off x="2276856" y="2962656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91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2871216" y="2962656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33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3529584" y="2962656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36.3%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4078224" y="2962656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58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4855464" y="2962656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19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5312664" y="2962656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20.9%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5907024" y="2962656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7AE60"/>
                </a:solidFill>
              </a:rPr>
              <a:t>32.8%🏆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6729984" y="2962656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7AE60"/>
                </a:solidFill>
              </a:rPr>
              <a:t>Team Template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91440" y="3191256"/>
            <a:ext cx="11978640" cy="246888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88" name="Text 86"/>
          <p:cNvSpPr/>
          <p:nvPr/>
        </p:nvSpPr>
        <p:spPr>
          <a:xfrm>
            <a:off x="128016" y="3227832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Andy Whisenant</a:t>
            </a:r>
            <a:endParaRPr lang="en-US" sz="780" dirty="0"/>
          </a:p>
        </p:txBody>
      </p:sp>
      <p:sp>
        <p:nvSpPr>
          <p:cNvPr id="89" name="Text 87"/>
          <p:cNvSpPr/>
          <p:nvPr/>
        </p:nvSpPr>
        <p:spPr>
          <a:xfrm>
            <a:off x="2276856" y="3227832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84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2871216" y="3227832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30</a:t>
            </a:r>
            <a:endParaRPr lang="en-US" sz="750" dirty="0"/>
          </a:p>
        </p:txBody>
      </p:sp>
      <p:sp>
        <p:nvSpPr>
          <p:cNvPr id="91" name="Text 89"/>
          <p:cNvSpPr/>
          <p:nvPr/>
        </p:nvSpPr>
        <p:spPr>
          <a:xfrm>
            <a:off x="3529584" y="3227832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35.7%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4078224" y="3227832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54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4855464" y="3227832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9</a:t>
            </a:r>
            <a:endParaRPr lang="en-US" sz="750" dirty="0"/>
          </a:p>
        </p:txBody>
      </p:sp>
      <p:sp>
        <p:nvSpPr>
          <p:cNvPr id="94" name="Text 92"/>
          <p:cNvSpPr/>
          <p:nvPr/>
        </p:nvSpPr>
        <p:spPr>
          <a:xfrm>
            <a:off x="5312664" y="3227832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10.7%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5907024" y="322783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7AE60"/>
                </a:solidFill>
              </a:rPr>
              <a:t>16.7%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6729984" y="3227832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980B9"/>
                </a:solidFill>
              </a:rPr>
              <a:t>Solid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91440" y="3456432"/>
            <a:ext cx="1197864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/>
          <p:nvPr/>
        </p:nvSpPr>
        <p:spPr>
          <a:xfrm>
            <a:off x="128016" y="3493008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Matt Salin</a:t>
            </a:r>
            <a:endParaRPr lang="en-US" sz="780" dirty="0"/>
          </a:p>
        </p:txBody>
      </p:sp>
      <p:sp>
        <p:nvSpPr>
          <p:cNvPr id="99" name="Text 97"/>
          <p:cNvSpPr/>
          <p:nvPr/>
        </p:nvSpPr>
        <p:spPr>
          <a:xfrm>
            <a:off x="2276856" y="3493008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81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2871216" y="3493008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24</a:t>
            </a:r>
            <a:endParaRPr lang="en-US" sz="750" dirty="0"/>
          </a:p>
        </p:txBody>
      </p:sp>
      <p:sp>
        <p:nvSpPr>
          <p:cNvPr id="101" name="Text 99"/>
          <p:cNvSpPr/>
          <p:nvPr/>
        </p:nvSpPr>
        <p:spPr>
          <a:xfrm>
            <a:off x="3529584" y="3493008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29.6%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4078224" y="3493008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57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4855464" y="3493008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10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5312664" y="3493008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12.3%</a:t>
            </a:r>
            <a:endParaRPr lang="en-US" sz="750" dirty="0"/>
          </a:p>
        </p:txBody>
      </p:sp>
      <p:sp>
        <p:nvSpPr>
          <p:cNvPr id="105" name="Text 103"/>
          <p:cNvSpPr/>
          <p:nvPr/>
        </p:nvSpPr>
        <p:spPr>
          <a:xfrm>
            <a:off x="5907024" y="3493008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7AE60"/>
                </a:solidFill>
              </a:rPr>
              <a:t>17.5%</a:t>
            </a:r>
            <a:endParaRPr lang="en-US" sz="750" dirty="0"/>
          </a:p>
        </p:txBody>
      </p:sp>
      <p:sp>
        <p:nvSpPr>
          <p:cNvPr id="106" name="Text 104"/>
          <p:cNvSpPr/>
          <p:nvPr/>
        </p:nvSpPr>
        <p:spPr>
          <a:xfrm>
            <a:off x="6729984" y="3493008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980B9"/>
                </a:solidFill>
              </a:rPr>
              <a:t>Solid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91440" y="3721608"/>
            <a:ext cx="11978640" cy="246888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108" name="Text 106"/>
          <p:cNvSpPr/>
          <p:nvPr/>
        </p:nvSpPr>
        <p:spPr>
          <a:xfrm>
            <a:off x="128016" y="3758184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Reese Middleton</a:t>
            </a:r>
            <a:endParaRPr lang="en-US" sz="780" dirty="0"/>
          </a:p>
        </p:txBody>
      </p:sp>
      <p:sp>
        <p:nvSpPr>
          <p:cNvPr id="109" name="Text 107"/>
          <p:cNvSpPr/>
          <p:nvPr/>
        </p:nvSpPr>
        <p:spPr>
          <a:xfrm>
            <a:off x="2276856" y="3758184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78</a:t>
            </a:r>
            <a:endParaRPr lang="en-US" sz="750" dirty="0"/>
          </a:p>
        </p:txBody>
      </p:sp>
      <p:sp>
        <p:nvSpPr>
          <p:cNvPr id="110" name="Text 108"/>
          <p:cNvSpPr/>
          <p:nvPr/>
        </p:nvSpPr>
        <p:spPr>
          <a:xfrm>
            <a:off x="2871216" y="3758184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21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3529584" y="3758184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26.9%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4078224" y="3758184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57</a:t>
            </a:r>
            <a:endParaRPr lang="en-US" sz="750" dirty="0"/>
          </a:p>
        </p:txBody>
      </p:sp>
      <p:sp>
        <p:nvSpPr>
          <p:cNvPr id="113" name="Text 111"/>
          <p:cNvSpPr/>
          <p:nvPr/>
        </p:nvSpPr>
        <p:spPr>
          <a:xfrm>
            <a:off x="4855464" y="3758184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7</a:t>
            </a:r>
            <a:endParaRPr lang="en-US" sz="750" dirty="0"/>
          </a:p>
        </p:txBody>
      </p:sp>
      <p:sp>
        <p:nvSpPr>
          <p:cNvPr id="114" name="Text 112"/>
          <p:cNvSpPr/>
          <p:nvPr/>
        </p:nvSpPr>
        <p:spPr>
          <a:xfrm>
            <a:off x="5312664" y="3758184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9.0%</a:t>
            </a:r>
            <a:endParaRPr lang="en-US" sz="750" dirty="0"/>
          </a:p>
        </p:txBody>
      </p:sp>
      <p:sp>
        <p:nvSpPr>
          <p:cNvPr id="115" name="Text 113"/>
          <p:cNvSpPr/>
          <p:nvPr/>
        </p:nvSpPr>
        <p:spPr>
          <a:xfrm>
            <a:off x="5907024" y="3758184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12.3%</a:t>
            </a:r>
            <a:endParaRPr lang="en-US" sz="750" dirty="0"/>
          </a:p>
        </p:txBody>
      </p:sp>
      <p:sp>
        <p:nvSpPr>
          <p:cNvPr id="116" name="Text 114"/>
          <p:cNvSpPr/>
          <p:nvPr/>
        </p:nvSpPr>
        <p:spPr>
          <a:xfrm>
            <a:off x="6729984" y="375818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980B9"/>
                </a:solidFill>
              </a:rPr>
              <a:t>Solid</a:t>
            </a:r>
            <a:endParaRPr lang="en-US" sz="750" dirty="0"/>
          </a:p>
        </p:txBody>
      </p:sp>
      <p:sp>
        <p:nvSpPr>
          <p:cNvPr id="117" name="Shape 115"/>
          <p:cNvSpPr/>
          <p:nvPr/>
        </p:nvSpPr>
        <p:spPr>
          <a:xfrm>
            <a:off x="91440" y="3986784"/>
            <a:ext cx="1197864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8" name="Text 116"/>
          <p:cNvSpPr/>
          <p:nvPr/>
        </p:nvSpPr>
        <p:spPr>
          <a:xfrm>
            <a:off x="128016" y="4023360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Davis Herndon</a:t>
            </a:r>
            <a:endParaRPr lang="en-US" sz="780" dirty="0"/>
          </a:p>
        </p:txBody>
      </p:sp>
      <p:sp>
        <p:nvSpPr>
          <p:cNvPr id="119" name="Text 117"/>
          <p:cNvSpPr/>
          <p:nvPr/>
        </p:nvSpPr>
        <p:spPr>
          <a:xfrm>
            <a:off x="2276856" y="4023360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53</a:t>
            </a:r>
            <a:endParaRPr lang="en-US" sz="750" dirty="0"/>
          </a:p>
        </p:txBody>
      </p:sp>
      <p:sp>
        <p:nvSpPr>
          <p:cNvPr id="120" name="Text 118"/>
          <p:cNvSpPr/>
          <p:nvPr/>
        </p:nvSpPr>
        <p:spPr>
          <a:xfrm>
            <a:off x="2871216" y="4023360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17</a:t>
            </a:r>
            <a:endParaRPr lang="en-US" sz="750" dirty="0"/>
          </a:p>
        </p:txBody>
      </p:sp>
      <p:sp>
        <p:nvSpPr>
          <p:cNvPr id="121" name="Text 119"/>
          <p:cNvSpPr/>
          <p:nvPr/>
        </p:nvSpPr>
        <p:spPr>
          <a:xfrm>
            <a:off x="3529584" y="4023360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32.1%</a:t>
            </a:r>
            <a:endParaRPr lang="en-US" sz="750" dirty="0"/>
          </a:p>
        </p:txBody>
      </p:sp>
      <p:sp>
        <p:nvSpPr>
          <p:cNvPr id="122" name="Text 120"/>
          <p:cNvSpPr/>
          <p:nvPr/>
        </p:nvSpPr>
        <p:spPr>
          <a:xfrm>
            <a:off x="4078224" y="4023360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36</a:t>
            </a:r>
            <a:endParaRPr lang="en-US" sz="750" dirty="0"/>
          </a:p>
        </p:txBody>
      </p:sp>
      <p:sp>
        <p:nvSpPr>
          <p:cNvPr id="123" name="Text 121"/>
          <p:cNvSpPr/>
          <p:nvPr/>
        </p:nvSpPr>
        <p:spPr>
          <a:xfrm>
            <a:off x="4855464" y="402336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4</a:t>
            </a:r>
            <a:endParaRPr lang="en-US" sz="750" dirty="0"/>
          </a:p>
        </p:txBody>
      </p:sp>
      <p:sp>
        <p:nvSpPr>
          <p:cNvPr id="124" name="Text 122"/>
          <p:cNvSpPr/>
          <p:nvPr/>
        </p:nvSpPr>
        <p:spPr>
          <a:xfrm>
            <a:off x="5312664" y="4023360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7.5%</a:t>
            </a:r>
            <a:endParaRPr lang="en-US" sz="750" dirty="0"/>
          </a:p>
        </p:txBody>
      </p:sp>
      <p:sp>
        <p:nvSpPr>
          <p:cNvPr id="125" name="Text 123"/>
          <p:cNvSpPr/>
          <p:nvPr/>
        </p:nvSpPr>
        <p:spPr>
          <a:xfrm>
            <a:off x="5907024" y="4023360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11.1%</a:t>
            </a:r>
            <a:endParaRPr lang="en-US" sz="750" dirty="0"/>
          </a:p>
        </p:txBody>
      </p:sp>
      <p:sp>
        <p:nvSpPr>
          <p:cNvPr id="126" name="Text 124"/>
          <p:cNvSpPr/>
          <p:nvPr/>
        </p:nvSpPr>
        <p:spPr>
          <a:xfrm>
            <a:off x="6729984" y="402336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44AD"/>
                </a:solidFill>
              </a:rPr>
              <a:t>Study ($1,153 avg)</a:t>
            </a:r>
            <a:endParaRPr lang="en-US" sz="750" dirty="0"/>
          </a:p>
        </p:txBody>
      </p:sp>
      <p:sp>
        <p:nvSpPr>
          <p:cNvPr id="127" name="Shape 125"/>
          <p:cNvSpPr/>
          <p:nvPr/>
        </p:nvSpPr>
        <p:spPr>
          <a:xfrm>
            <a:off x="91440" y="4251960"/>
            <a:ext cx="11978640" cy="246888"/>
          </a:xfrm>
          <a:prstGeom prst="rect">
            <a:avLst/>
          </a:prstGeom>
          <a:solidFill>
            <a:srgbClr val="EEF8FF"/>
          </a:solidFill>
          <a:ln/>
        </p:spPr>
      </p:sp>
      <p:sp>
        <p:nvSpPr>
          <p:cNvPr id="128" name="Text 126"/>
          <p:cNvSpPr/>
          <p:nvPr/>
        </p:nvSpPr>
        <p:spPr>
          <a:xfrm>
            <a:off x="128016" y="4288536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A4F63"/>
                </a:solidFill>
              </a:rPr>
              <a:t>Jamie Butler ✅</a:t>
            </a:r>
            <a:endParaRPr lang="en-US" sz="780" dirty="0"/>
          </a:p>
        </p:txBody>
      </p:sp>
      <p:sp>
        <p:nvSpPr>
          <p:cNvPr id="129" name="Text 127"/>
          <p:cNvSpPr/>
          <p:nvPr/>
        </p:nvSpPr>
        <p:spPr>
          <a:xfrm>
            <a:off x="2276856" y="4288536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41</a:t>
            </a:r>
            <a:endParaRPr lang="en-US" sz="750" dirty="0"/>
          </a:p>
        </p:txBody>
      </p:sp>
      <p:sp>
        <p:nvSpPr>
          <p:cNvPr id="130" name="Text 128"/>
          <p:cNvSpPr/>
          <p:nvPr/>
        </p:nvSpPr>
        <p:spPr>
          <a:xfrm>
            <a:off x="2871216" y="4288536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</a:t>
            </a:r>
            <a:endParaRPr lang="en-US" sz="750" dirty="0"/>
          </a:p>
        </p:txBody>
      </p:sp>
      <p:sp>
        <p:nvSpPr>
          <p:cNvPr id="131" name="Text 129"/>
          <p:cNvSpPr/>
          <p:nvPr/>
        </p:nvSpPr>
        <p:spPr>
          <a:xfrm>
            <a:off x="3529584" y="4288536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7AE60"/>
                </a:solidFill>
              </a:rPr>
              <a:t>14.6%</a:t>
            </a:r>
            <a:endParaRPr lang="en-US" sz="750" dirty="0"/>
          </a:p>
        </p:txBody>
      </p:sp>
      <p:sp>
        <p:nvSpPr>
          <p:cNvPr id="132" name="Text 130"/>
          <p:cNvSpPr/>
          <p:nvPr/>
        </p:nvSpPr>
        <p:spPr>
          <a:xfrm>
            <a:off x="4078224" y="4288536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35</a:t>
            </a:r>
            <a:endParaRPr lang="en-US" sz="750" dirty="0"/>
          </a:p>
        </p:txBody>
      </p:sp>
      <p:sp>
        <p:nvSpPr>
          <p:cNvPr id="133" name="Text 131"/>
          <p:cNvSpPr/>
          <p:nvPr/>
        </p:nvSpPr>
        <p:spPr>
          <a:xfrm>
            <a:off x="4855464" y="4288536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</a:t>
            </a:r>
            <a:endParaRPr lang="en-US" sz="750" dirty="0"/>
          </a:p>
        </p:txBody>
      </p:sp>
      <p:sp>
        <p:nvSpPr>
          <p:cNvPr id="134" name="Text 132"/>
          <p:cNvSpPr/>
          <p:nvPr/>
        </p:nvSpPr>
        <p:spPr>
          <a:xfrm>
            <a:off x="5312664" y="4288536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12.2%</a:t>
            </a:r>
            <a:endParaRPr lang="en-US" sz="750" dirty="0"/>
          </a:p>
        </p:txBody>
      </p:sp>
      <p:sp>
        <p:nvSpPr>
          <p:cNvPr id="135" name="Text 133"/>
          <p:cNvSpPr/>
          <p:nvPr/>
        </p:nvSpPr>
        <p:spPr>
          <a:xfrm>
            <a:off x="5907024" y="4288536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14.3%</a:t>
            </a:r>
            <a:endParaRPr lang="en-US" sz="750" dirty="0"/>
          </a:p>
        </p:txBody>
      </p:sp>
      <p:sp>
        <p:nvSpPr>
          <p:cNvPr id="136" name="Text 134"/>
          <p:cNvSpPr/>
          <p:nvPr/>
        </p:nvSpPr>
        <p:spPr>
          <a:xfrm>
            <a:off x="6729984" y="4288536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7AE60"/>
                </a:solidFill>
              </a:rPr>
              <a:t>Show Rate Model</a:t>
            </a:r>
            <a:endParaRPr lang="en-US" sz="750" dirty="0"/>
          </a:p>
        </p:txBody>
      </p:sp>
      <p:sp>
        <p:nvSpPr>
          <p:cNvPr id="137" name="Shape 135"/>
          <p:cNvSpPr/>
          <p:nvPr/>
        </p:nvSpPr>
        <p:spPr>
          <a:xfrm>
            <a:off x="91440" y="4517136"/>
            <a:ext cx="11978640" cy="2468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38" name="Text 136"/>
          <p:cNvSpPr/>
          <p:nvPr/>
        </p:nvSpPr>
        <p:spPr>
          <a:xfrm>
            <a:off x="128016" y="4553712"/>
            <a:ext cx="2075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B7F93"/>
                </a:solidFill>
              </a:rPr>
              <a:t>Dahlstrom (gone)</a:t>
            </a:r>
            <a:endParaRPr lang="en-US" sz="780" dirty="0"/>
          </a:p>
        </p:txBody>
      </p:sp>
      <p:sp>
        <p:nvSpPr>
          <p:cNvPr id="139" name="Text 137"/>
          <p:cNvSpPr/>
          <p:nvPr/>
        </p:nvSpPr>
        <p:spPr>
          <a:xfrm>
            <a:off x="2276856" y="4553712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F93"/>
                </a:solidFill>
              </a:rPr>
              <a:t>38</a:t>
            </a:r>
            <a:endParaRPr lang="en-US" sz="750" dirty="0"/>
          </a:p>
        </p:txBody>
      </p:sp>
      <p:sp>
        <p:nvSpPr>
          <p:cNvPr id="140" name="Text 138"/>
          <p:cNvSpPr/>
          <p:nvPr/>
        </p:nvSpPr>
        <p:spPr>
          <a:xfrm>
            <a:off x="2871216" y="4553712"/>
            <a:ext cx="5852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F93"/>
                </a:solidFill>
              </a:rPr>
              <a:t>1</a:t>
            </a:r>
            <a:endParaRPr lang="en-US" sz="750" dirty="0"/>
          </a:p>
        </p:txBody>
      </p:sp>
      <p:sp>
        <p:nvSpPr>
          <p:cNvPr id="141" name="Text 139"/>
          <p:cNvSpPr/>
          <p:nvPr/>
        </p:nvSpPr>
        <p:spPr>
          <a:xfrm>
            <a:off x="3529584" y="4553712"/>
            <a:ext cx="4754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27AE60"/>
                </a:solidFill>
              </a:rPr>
              <a:t>2.6%</a:t>
            </a:r>
            <a:endParaRPr lang="en-US" sz="750" dirty="0"/>
          </a:p>
        </p:txBody>
      </p:sp>
      <p:sp>
        <p:nvSpPr>
          <p:cNvPr id="142" name="Text 140"/>
          <p:cNvSpPr/>
          <p:nvPr/>
        </p:nvSpPr>
        <p:spPr>
          <a:xfrm>
            <a:off x="4078224" y="4553712"/>
            <a:ext cx="704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F93"/>
                </a:solidFill>
              </a:rPr>
              <a:t>37</a:t>
            </a:r>
            <a:endParaRPr lang="en-US" sz="750" dirty="0"/>
          </a:p>
        </p:txBody>
      </p:sp>
      <p:sp>
        <p:nvSpPr>
          <p:cNvPr id="143" name="Text 141"/>
          <p:cNvSpPr/>
          <p:nvPr/>
        </p:nvSpPr>
        <p:spPr>
          <a:xfrm>
            <a:off x="4855464" y="4553712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F93"/>
                </a:solidFill>
              </a:rPr>
              <a:t>8</a:t>
            </a:r>
            <a:endParaRPr lang="en-US" sz="750" dirty="0"/>
          </a:p>
        </p:txBody>
      </p:sp>
      <p:sp>
        <p:nvSpPr>
          <p:cNvPr id="144" name="Text 142"/>
          <p:cNvSpPr/>
          <p:nvPr/>
        </p:nvSpPr>
        <p:spPr>
          <a:xfrm>
            <a:off x="5312664" y="4553712"/>
            <a:ext cx="521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F93"/>
                </a:solidFill>
              </a:rPr>
              <a:t>—</a:t>
            </a:r>
            <a:endParaRPr lang="en-US" sz="750" dirty="0"/>
          </a:p>
        </p:txBody>
      </p:sp>
      <p:sp>
        <p:nvSpPr>
          <p:cNvPr id="145" name="Text 143"/>
          <p:cNvSpPr/>
          <p:nvPr/>
        </p:nvSpPr>
        <p:spPr>
          <a:xfrm>
            <a:off x="5907024" y="455371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3A4F63"/>
                </a:solidFill>
              </a:rPr>
              <a:t>—</a:t>
            </a:r>
            <a:endParaRPr lang="en-US" sz="750" dirty="0"/>
          </a:p>
        </p:txBody>
      </p:sp>
      <p:sp>
        <p:nvSpPr>
          <p:cNvPr id="146" name="Text 144"/>
          <p:cNvSpPr/>
          <p:nvPr/>
        </p:nvSpPr>
        <p:spPr>
          <a:xfrm>
            <a:off x="6729984" y="4553712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F93"/>
                </a:solidFill>
              </a:rPr>
              <a:t>Mgmt-inflated/invalid</a:t>
            </a:r>
            <a:endParaRPr lang="en-US" sz="750" dirty="0"/>
          </a:p>
        </p:txBody>
      </p:sp>
      <p:sp>
        <p:nvSpPr>
          <p:cNvPr id="147" name="Text 145"/>
          <p:cNvSpPr/>
          <p:nvPr/>
        </p:nvSpPr>
        <p:spPr>
          <a:xfrm>
            <a:off x="91440" y="3877056"/>
            <a:ext cx="1197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F93"/>
                </a:solidFill>
              </a:rPr>
              <a:t>★ Most completed meetings on team (109) — lowest close rate (5.5%). Win/Completed = wins ÷ meetings that actually happened.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91440" y="4059936"/>
            <a:ext cx="11978640" cy="115214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149" name="Text 147"/>
          <p:cNvSpPr/>
          <p:nvPr/>
        </p:nvSpPr>
        <p:spPr>
          <a:xfrm>
            <a:off x="292608" y="4224528"/>
            <a:ext cx="11576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Two Failure Modes Require Different Fixes</a:t>
            </a:r>
            <a:endParaRPr lang="en-US" sz="1200" dirty="0"/>
          </a:p>
        </p:txBody>
      </p:sp>
      <p:sp>
        <p:nvSpPr>
          <p:cNvPr id="150" name="Text 148"/>
          <p:cNvSpPr/>
          <p:nvPr/>
        </p:nvSpPr>
        <p:spPr>
          <a:xfrm>
            <a:off x="292608" y="4535424"/>
            <a:ext cx="11576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GROUP 1 — Show Rate Problem: Husam (43.5%), Borah (40%), Bender (35.9%) → fix = ICP qualification + confirmation before booking</a:t>
            </a:r>
            <a:endParaRPr lang="en-US" sz="900" dirty="0"/>
          </a:p>
        </p:txBody>
      </p:sp>
      <p:sp>
        <p:nvSpPr>
          <p:cNvPr id="151" name="Text 149"/>
          <p:cNvSpPr/>
          <p:nvPr/>
        </p:nvSpPr>
        <p:spPr>
          <a:xfrm>
            <a:off x="292608" y="4882896"/>
            <a:ext cx="11576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GROUP 2 — Conversion Problem: Flynn (5.5% from 109 completed), Davies (5.0%), Mitchell (7.5%) → fix = discovery/demo coaching</a:t>
            </a:r>
            <a:endParaRPr lang="en-US" sz="900" dirty="0"/>
          </a:p>
        </p:txBody>
      </p:sp>
      <p:sp>
        <p:nvSpPr>
          <p:cNvPr id="152" name="Text 150"/>
          <p:cNvSpPr/>
          <p:nvPr/>
        </p:nvSpPr>
        <p:spPr>
          <a:xfrm>
            <a:off x="292608" y="5230368"/>
            <a:ext cx="11576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BENCHMARK: Butler (14.6% no-show, real volume) is now the show-rate model. Dahlstrom stats were inflated by management running his deals.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4 — ICP ANALYSIS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We've Been Selling to the Wrong Buyers — By Design. Now We Don't Have To.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15568"/>
            <a:ext cx="11430000" cy="96012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12801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🎯 Bridge Market vs. Real ICP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" y="1591056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Bridge market (Security Integrators + AV): 68 wins, 59% of total, avg $557/deal — bought while product was being built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75488" y="1938528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Real ICP (IT MSPs on CW/Kaseya/Halo): only 11 wins (10%), avg $512/deal — barely targeted, product now ready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75488" y="2286000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GTM motion must shift from "who will buy what we have" → "who should be buying this"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221284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F2540"/>
                </a:solidFill>
              </a:rPr>
              <a:t>WINS BY INDUSTRY (115 TOTAL)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240280" y="2523744"/>
            <a:ext cx="3474720" cy="219456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" y="248716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Security Integrator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806440" y="24871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51 wins  $30K MRR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240280" y="2825496"/>
            <a:ext cx="1567031" cy="219456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78892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UCaaS / VoIP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898751" y="2788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23 wins  $19K MRR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240280" y="3127248"/>
            <a:ext cx="1158240" cy="219456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" y="309067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AV / Home Automation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489960" y="309067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17 wins  $10K MRR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240280" y="3429000"/>
            <a:ext cx="613186" cy="21945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392424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7AE60"/>
                </a:solidFill>
              </a:rPr>
              <a:t>MSP - No Voice (Real ICP)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44906" y="339242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9 wins  $5K MRR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240280" y="3730752"/>
            <a:ext cx="272527" cy="219456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" y="369417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Business Support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604247" y="369417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4 wins  $4K MRR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240280" y="4032504"/>
            <a:ext cx="136264" cy="219456"/>
          </a:xfrm>
          <a:prstGeom prst="rect">
            <a:avLst/>
          </a:prstGeom>
          <a:solidFill>
            <a:srgbClr val="5DADE2"/>
          </a:solidFill>
          <a:ln/>
        </p:spPr>
      </p:sp>
      <p:sp>
        <p:nvSpPr>
          <p:cNvPr id="29" name="Text 27"/>
          <p:cNvSpPr/>
          <p:nvPr/>
        </p:nvSpPr>
        <p:spPr>
          <a:xfrm>
            <a:off x="274320" y="399592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ISP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467984" y="399592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2 wins  $2K MRR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240280" y="4334256"/>
            <a:ext cx="613186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32" name="Text 30"/>
          <p:cNvSpPr/>
          <p:nvPr/>
        </p:nvSpPr>
        <p:spPr>
          <a:xfrm>
            <a:off x="274320" y="42976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Other / Cabling / SaaS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944906" y="4297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9 wins  $5K MRR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035040" y="2212848"/>
            <a:ext cx="0" cy="274320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221284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F2540"/>
                </a:solidFill>
              </a:rPr>
              <a:t>WINS BY ACCOUNT TYPE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217920" y="2487168"/>
            <a:ext cx="53035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5080" y="2532888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Rev.io PSA Client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326880" y="2532888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68 wins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149840" y="2532888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93"/>
                </a:solidFill>
              </a:rPr>
              <a:t>$643 avg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7920" y="2871216"/>
            <a:ext cx="53035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55080" y="2916936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Tigerpaw Churn / Client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326880" y="291693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38 wins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149840" y="2916936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93"/>
                </a:solidFill>
              </a:rPr>
              <a:t>$564 avg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217920" y="3255264"/>
            <a:ext cx="5303520" cy="320040"/>
          </a:xfrm>
          <a:prstGeom prst="rect">
            <a:avLst/>
          </a:prstGeom>
          <a:solidFill>
            <a:srgbClr val="D4EDDA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55080" y="3300984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7A3A"/>
                </a:solidFill>
              </a:rPr>
              <a:t>Rev.io Billing Client ★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326880" y="330098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4 wins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149840" y="3300984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$1,433 avg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217920" y="3639312"/>
            <a:ext cx="53035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55080" y="3685032"/>
            <a:ext cx="2926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PSA Churn + Other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9326880" y="3685032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5 wins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149840" y="3685032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F93"/>
                </a:solidFill>
              </a:rPr>
              <a:t>$840 avg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217920" y="404164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7AE60"/>
                </a:solidFill>
              </a:rPr>
              <a:t>★ Billing clients = 30% win rate (3× team avg) — 4 won, 52 lost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74320" y="4251960"/>
            <a:ext cx="11430000" cy="73152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54" name="Shape 52"/>
          <p:cNvSpPr/>
          <p:nvPr/>
        </p:nvSpPr>
        <p:spPr>
          <a:xfrm>
            <a:off x="274320" y="4325112"/>
            <a:ext cx="11430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02336" y="4379976"/>
            <a:ext cx="11173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📊 Tigerpaw Base — A Retention Story, Not a Bookings Story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02336" y="4636008"/>
            <a:ext cx="111739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~650 Tigerpaw clients not yet migrated. ~110 zombie accounts. ~540 real candidates, 80–100 confirmed intent. IMPORTANT: These are existing paying customers — migration is net retention + long-term price lift, NOT new bookings MRR. Protect the base; do not count toward 5× target.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5 — QUICK WINS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$110K+ in Near-Term Bookings Pipeline Identified — Plus a Retention Priority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15568"/>
            <a:ext cx="27432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84048" y="1161288"/>
            <a:ext cx="2523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7AE60"/>
                </a:solidFill>
              </a:rPr>
              <a:t>$101,759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" y="1609344"/>
            <a:ext cx="25968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Apollo 2 Re-Engagements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154680" y="1115568"/>
            <a:ext cx="2560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64408" y="1161288"/>
            <a:ext cx="23408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98 Deals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27832" y="1609344"/>
            <a:ext cx="24140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Fully Unlocked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852160" y="1115568"/>
            <a:ext cx="2560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61888" y="1161288"/>
            <a:ext cx="23408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$9,089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925312" y="1609344"/>
            <a:ext cx="24140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Billing Pipeline Open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549640" y="1115568"/>
            <a:ext cx="3017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59368" y="1161288"/>
            <a:ext cx="27980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</a:rPr>
              <a:t>80–100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622792" y="1609344"/>
            <a:ext cx="2871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Tigerpaw Migration-Intent (Retention)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2148840"/>
            <a:ext cx="3657600" cy="73152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0" name="Shape 18"/>
          <p:cNvSpPr/>
          <p:nvPr/>
        </p:nvSpPr>
        <p:spPr>
          <a:xfrm>
            <a:off x="274320" y="2221992"/>
            <a:ext cx="3657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2336" y="2276856"/>
            <a:ext cx="3401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🚀 Quick Win #1: Apollo 2 Re-Engagements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02336" y="2532888"/>
            <a:ext cx="34015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98 feature-gap losses fully unlocked by April 2026 roadmap. Reach out in March — before ship — with: "The feature you needed ships next month. Want to see it early?" Work list top-down by MRR.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069080" y="2148840"/>
            <a:ext cx="3657600" cy="73152"/>
          </a:xfrm>
          <a:prstGeom prst="rect">
            <a:avLst/>
          </a:prstGeom>
          <a:solidFill>
            <a:srgbClr val="2980B9"/>
          </a:solidFill>
          <a:ln/>
        </p:spPr>
      </p:sp>
      <p:sp>
        <p:nvSpPr>
          <p:cNvPr id="24" name="Shape 22"/>
          <p:cNvSpPr/>
          <p:nvPr/>
        </p:nvSpPr>
        <p:spPr>
          <a:xfrm>
            <a:off x="4069080" y="2221992"/>
            <a:ext cx="3657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97096" y="2276856"/>
            <a:ext cx="3401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💼 Quick Win #2: Billing Cross-Sell Pipeline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97096" y="2532888"/>
            <a:ext cx="34015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11 open deals / $9,089 MRR. Existing customers — easiest closes in the system. 30% win rate vs 9.2% avg. Losh Network at Stage 5 and Vision CTS (CW renewal April '26) are the priority.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863840" y="2148840"/>
            <a:ext cx="3703320" cy="73152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28" name="Shape 26"/>
          <p:cNvSpPr/>
          <p:nvPr/>
        </p:nvSpPr>
        <p:spPr>
          <a:xfrm>
            <a:off x="7863840" y="2221992"/>
            <a:ext cx="37033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91856" y="2276856"/>
            <a:ext cx="3447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🛡️ Retention: Tigerpaw Migration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991856" y="2532888"/>
            <a:ext cx="344728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Existing customers — migration is NOT new MRR. Value = preventing churn + long-term price lift on PSA Web. Prioritize 80–100 hot-intent accounts. Also: NinjaOne 9 accounts / $6,900 MRR — integration ships Apollo 2.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74320" y="3364992"/>
            <a:ext cx="11430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F2540"/>
                </a:solidFill>
              </a:rPr>
              <a:t>BILLING CROSS-SELL — OPEN DEALS (PRIORITY ORDER)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74320" y="3611880"/>
            <a:ext cx="11430000" cy="256032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33" name="Text 31"/>
          <p:cNvSpPr/>
          <p:nvPr/>
        </p:nvSpPr>
        <p:spPr>
          <a:xfrm>
            <a:off x="365760" y="363016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Account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657600" y="363016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Rep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035040" y="363016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Stage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772400" y="363016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MRR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144000" y="363016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Action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74320" y="3867912"/>
            <a:ext cx="11430000" cy="2194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389534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Losh Network Services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3657600" y="389534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Connor Flynn</a:t>
            </a:r>
            <a:endParaRPr lang="en-US" sz="820" dirty="0"/>
          </a:p>
        </p:txBody>
      </p:sp>
      <p:sp>
        <p:nvSpPr>
          <p:cNvPr id="41" name="Text 39"/>
          <p:cNvSpPr/>
          <p:nvPr/>
        </p:nvSpPr>
        <p:spPr>
          <a:xfrm>
            <a:off x="6035040" y="389534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Stage 5</a:t>
            </a:r>
            <a:endParaRPr lang="en-US" sz="820" dirty="0"/>
          </a:p>
        </p:txBody>
      </p:sp>
      <p:sp>
        <p:nvSpPr>
          <p:cNvPr id="42" name="Text 40"/>
          <p:cNvSpPr/>
          <p:nvPr/>
        </p:nvSpPr>
        <p:spPr>
          <a:xfrm>
            <a:off x="7772400" y="389534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$1,004</a:t>
            </a:r>
            <a:endParaRPr lang="en-US" sz="820" dirty="0"/>
          </a:p>
        </p:txBody>
      </p:sp>
      <p:sp>
        <p:nvSpPr>
          <p:cNvPr id="43" name="Text 41"/>
          <p:cNvSpPr/>
          <p:nvPr/>
        </p:nvSpPr>
        <p:spPr>
          <a:xfrm>
            <a:off x="9144000" y="3895344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CLOSE THIS WEEK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74320" y="4105656"/>
            <a:ext cx="11430000" cy="219456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45" name="Text 43"/>
          <p:cNvSpPr/>
          <p:nvPr/>
        </p:nvSpPr>
        <p:spPr>
          <a:xfrm>
            <a:off x="365760" y="413308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Clear Rate PSA III</a:t>
            </a:r>
            <a:endParaRPr lang="en-US" sz="820" dirty="0"/>
          </a:p>
        </p:txBody>
      </p:sp>
      <p:sp>
        <p:nvSpPr>
          <p:cNvPr id="46" name="Text 44"/>
          <p:cNvSpPr/>
          <p:nvPr/>
        </p:nvSpPr>
        <p:spPr>
          <a:xfrm>
            <a:off x="3657600" y="413308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Jamie Butler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6035040" y="413308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Stage 4</a:t>
            </a:r>
            <a:endParaRPr lang="en-US" sz="820" dirty="0"/>
          </a:p>
        </p:txBody>
      </p:sp>
      <p:sp>
        <p:nvSpPr>
          <p:cNvPr id="48" name="Text 46"/>
          <p:cNvSpPr/>
          <p:nvPr/>
        </p:nvSpPr>
        <p:spPr>
          <a:xfrm>
            <a:off x="7772400" y="413308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$500</a:t>
            </a:r>
            <a:endParaRPr lang="en-US" sz="820" dirty="0"/>
          </a:p>
        </p:txBody>
      </p:sp>
      <p:sp>
        <p:nvSpPr>
          <p:cNvPr id="49" name="Text 47"/>
          <p:cNvSpPr/>
          <p:nvPr/>
        </p:nvSpPr>
        <p:spPr>
          <a:xfrm>
            <a:off x="9144000" y="4133088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980B9"/>
                </a:solidFill>
              </a:rPr>
              <a:t>Advance to close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74320" y="4343400"/>
            <a:ext cx="11430000" cy="2194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65760" y="437083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Tricom Technology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3657600" y="437083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Connor Flynn</a:t>
            </a:r>
            <a:endParaRPr lang="en-US" sz="820" dirty="0"/>
          </a:p>
        </p:txBody>
      </p:sp>
      <p:sp>
        <p:nvSpPr>
          <p:cNvPr id="53" name="Text 51"/>
          <p:cNvSpPr/>
          <p:nvPr/>
        </p:nvSpPr>
        <p:spPr>
          <a:xfrm>
            <a:off x="6035040" y="437083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Stage 3</a:t>
            </a:r>
            <a:endParaRPr lang="en-US" sz="820" dirty="0"/>
          </a:p>
        </p:txBody>
      </p:sp>
      <p:sp>
        <p:nvSpPr>
          <p:cNvPr id="54" name="Text 52"/>
          <p:cNvSpPr/>
          <p:nvPr/>
        </p:nvSpPr>
        <p:spPr>
          <a:xfrm>
            <a:off x="7772400" y="437083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$1,220</a:t>
            </a:r>
            <a:endParaRPr lang="en-US" sz="820" dirty="0"/>
          </a:p>
        </p:txBody>
      </p:sp>
      <p:sp>
        <p:nvSpPr>
          <p:cNvPr id="55" name="Text 53"/>
          <p:cNvSpPr/>
          <p:nvPr/>
        </p:nvSpPr>
        <p:spPr>
          <a:xfrm>
            <a:off x="9144000" y="4370832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39C12"/>
                </a:solidFill>
              </a:rPr>
              <a:t>Accelerate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274320" y="4581144"/>
            <a:ext cx="11430000" cy="219456"/>
          </a:xfrm>
          <a:prstGeom prst="rect">
            <a:avLst/>
          </a:prstGeom>
          <a:solidFill>
            <a:srgbClr val="F8F9FB"/>
          </a:solidFill>
          <a:ln/>
        </p:spPr>
      </p:sp>
      <p:sp>
        <p:nvSpPr>
          <p:cNvPr id="57" name="Text 55"/>
          <p:cNvSpPr/>
          <p:nvPr/>
        </p:nvSpPr>
        <p:spPr>
          <a:xfrm>
            <a:off x="365760" y="460857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VTX Telecom</a:t>
            </a:r>
            <a:endParaRPr lang="en-US" sz="820" dirty="0"/>
          </a:p>
        </p:txBody>
      </p:sp>
      <p:sp>
        <p:nvSpPr>
          <p:cNvPr id="58" name="Text 56"/>
          <p:cNvSpPr/>
          <p:nvPr/>
        </p:nvSpPr>
        <p:spPr>
          <a:xfrm>
            <a:off x="3657600" y="460857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Joseph Abarno</a:t>
            </a:r>
            <a:endParaRPr lang="en-US" sz="820" dirty="0"/>
          </a:p>
        </p:txBody>
      </p:sp>
      <p:sp>
        <p:nvSpPr>
          <p:cNvPr id="59" name="Text 57"/>
          <p:cNvSpPr/>
          <p:nvPr/>
        </p:nvSpPr>
        <p:spPr>
          <a:xfrm>
            <a:off x="6035040" y="460857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Stage 1</a:t>
            </a:r>
            <a:endParaRPr lang="en-US" sz="820" dirty="0"/>
          </a:p>
        </p:txBody>
      </p:sp>
      <p:sp>
        <p:nvSpPr>
          <p:cNvPr id="60" name="Text 58"/>
          <p:cNvSpPr/>
          <p:nvPr/>
        </p:nvSpPr>
        <p:spPr>
          <a:xfrm>
            <a:off x="7772400" y="460857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$1,680</a:t>
            </a:r>
            <a:endParaRPr lang="en-US" sz="820" dirty="0"/>
          </a:p>
        </p:txBody>
      </p:sp>
      <p:sp>
        <p:nvSpPr>
          <p:cNvPr id="61" name="Text 59"/>
          <p:cNvSpPr/>
          <p:nvPr/>
        </p:nvSpPr>
        <p:spPr>
          <a:xfrm>
            <a:off x="9144000" y="4608576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3A5C"/>
                </a:solidFill>
              </a:rPr>
              <a:t>Qualify fast (largest)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274320" y="4818888"/>
            <a:ext cx="11430000" cy="2194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365760" y="48463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Vision CTS PSA II</a:t>
            </a:r>
            <a:endParaRPr lang="en-US" sz="820" dirty="0"/>
          </a:p>
        </p:txBody>
      </p:sp>
      <p:sp>
        <p:nvSpPr>
          <p:cNvPr id="64" name="Text 62"/>
          <p:cNvSpPr/>
          <p:nvPr/>
        </p:nvSpPr>
        <p:spPr>
          <a:xfrm>
            <a:off x="3657600" y="48463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Connor Flynn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035040" y="48463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Stage 1</a:t>
            </a:r>
            <a:endParaRPr lang="en-US" sz="820" dirty="0"/>
          </a:p>
        </p:txBody>
      </p:sp>
      <p:sp>
        <p:nvSpPr>
          <p:cNvPr id="66" name="Text 64"/>
          <p:cNvSpPr/>
          <p:nvPr/>
        </p:nvSpPr>
        <p:spPr>
          <a:xfrm>
            <a:off x="7772400" y="48463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A4F63"/>
                </a:solidFill>
              </a:rPr>
              <a:t>$1,260</a:t>
            </a:r>
            <a:endParaRPr lang="en-US" sz="820" dirty="0"/>
          </a:p>
        </p:txBody>
      </p:sp>
      <p:sp>
        <p:nvSpPr>
          <p:cNvPr id="67" name="Text 65"/>
          <p:cNvSpPr/>
          <p:nvPr/>
        </p:nvSpPr>
        <p:spPr>
          <a:xfrm>
            <a:off x="9144000" y="4846320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463A"/>
                </a:solidFill>
              </a:rPr>
              <a:t>⚡ CW renewal Apr '26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6 — 5× MATH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5× Requires Three Levers. None Alone Is Enough. Timeline: 12–18 Months.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15568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84048" y="1161288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$9,526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" y="160934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Current Mo. Avg (1.0×)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063240" y="1115568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72968" y="1161288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463A"/>
                </a:solidFill>
              </a:rPr>
              <a:t>$47,630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136392" y="160934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5× Target / Month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852160" y="1115568"/>
            <a:ext cx="2651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61888" y="1161288"/>
            <a:ext cx="2432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463A"/>
                </a:solidFill>
              </a:rPr>
              <a:t>$38,104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925312" y="160934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Monthly Gap to Close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641080" y="1115568"/>
            <a:ext cx="2926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750808" y="1161288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7AE60"/>
                </a:solidFill>
              </a:rPr>
              <a:t>9.2% → 15%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714232" y="1609344"/>
            <a:ext cx="27797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50" kern="0" dirty="0">
                <a:solidFill>
                  <a:srgbClr val="6B7F93"/>
                </a:solidFill>
              </a:rPr>
              <a:t>Win Rate Journey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2212848"/>
            <a:ext cx="3749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980B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2336" y="2286000"/>
            <a:ext cx="34930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Scenario 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Fix Execution Only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02336" y="2633472"/>
            <a:ext cx="3493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980B9"/>
                </a:solidFill>
              </a:rPr>
              <a:t>$17,000/mo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02336" y="3035808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63A"/>
                </a:solidFill>
              </a:rPr>
              <a:t>1.8×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02336" y="3310128"/>
            <a:ext cx="34930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200 closures · 13% win rate · $650 avg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Show-rate program deployed, reps coached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06240" y="2212848"/>
            <a:ext cx="3749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34256" y="2286000"/>
            <a:ext cx="34930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Scenario 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Execution + Near-Term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334256" y="2633472"/>
            <a:ext cx="3493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</a:rPr>
              <a:t>$32,000/mo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334256" y="3035808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63A"/>
                </a:solidFill>
              </a:rPr>
              <a:t>3.4×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334256" y="3310128"/>
            <a:ext cx="34930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250 closures · 14% win rate · $900 avg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Billing cross-sell + Apollo 2 re-engagements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Marketing rebalanced · Early IT MSP wins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138160" y="2212848"/>
            <a:ext cx="3749040" cy="2011680"/>
          </a:xfrm>
          <a:prstGeom prst="rect">
            <a:avLst/>
          </a:prstGeom>
          <a:solidFill>
            <a:srgbClr val="FFFFFF"/>
          </a:solidFill>
          <a:ln w="38100">
            <a:solidFill>
              <a:srgbClr val="27AE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66176" y="2286000"/>
            <a:ext cx="34930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Scenario C — TARGET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Full ICP Shift (5×)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266176" y="2633472"/>
            <a:ext cx="3493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7AE60"/>
                </a:solidFill>
              </a:rPr>
              <a:t>$54,000/mo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266176" y="3035808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</a:rPr>
              <a:t>5.7×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66176" y="3310128"/>
            <a:ext cx="34930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350–400 closures · 15% win rate · $950 avg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IT MSP ICP dominant · CW/Kaseya displacement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F93"/>
                </a:solidFill>
              </a:rPr>
              <a:t>Full GTM motion mature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4352544"/>
            <a:ext cx="11430000" cy="87782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35" name="Text 33"/>
          <p:cNvSpPr/>
          <p:nvPr/>
        </p:nvSpPr>
        <p:spPr>
          <a:xfrm>
            <a:off x="475488" y="451713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📐 What Has to Be True for 5× (12–18 Month Roadmap)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75488" y="4828032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Q1 2026: Fix show rates · Close Billing pipeline · Apollo 2 re-engagements (March) · Audit paid media · SDR ICP qualification overhaul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75488" y="5175504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Q2–Q3 2026: Apollo 2 ships (April) · IT MSP messaging built · CW/Kaseya displacement motion launched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75488" y="5522976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D4EA"/>
                </a:solidFill>
              </a:rPr>
              <a:t>→  Q3–Q4 2026: IT MSP wins compound · Avg deal rises to $900–1,000 · Flywheel turns: each MSP win = 3–5 referrals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PHASE 7 — MARKETING &amp; SDR ATTRIBUTION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Inbound Converts 3–5× Better. SDRs Are Booking the Wrong Meetings.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115568"/>
            <a:ext cx="5669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F2540"/>
                </a:solidFill>
              </a:rPr>
              <a:t>WIN RATE BY MARKETING SOURCE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40817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7AE60"/>
                </a:solidFill>
              </a:rPr>
              <a:t>SEO 🏆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377440" y="1444752"/>
            <a:ext cx="3200400" cy="201168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0" y="1408176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7AE60"/>
                </a:solidFill>
              </a:rPr>
              <a:t>32.1%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74320" y="175564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Rev.io Summit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377440" y="1792224"/>
            <a:ext cx="2976372" cy="201168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13" name="Text 11"/>
          <p:cNvSpPr/>
          <p:nvPr/>
        </p:nvSpPr>
        <p:spPr>
          <a:xfrm>
            <a:off x="5445252" y="175564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30.0%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74320" y="2103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Website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377440" y="2139696"/>
            <a:ext cx="2112264" cy="201168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16" name="Text 14"/>
          <p:cNvSpPr/>
          <p:nvPr/>
        </p:nvSpPr>
        <p:spPr>
          <a:xfrm>
            <a:off x="4581144" y="21031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21.2%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74320" y="245059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Tradeshow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377440" y="2487168"/>
            <a:ext cx="1184148" cy="201168"/>
          </a:xfrm>
          <a:prstGeom prst="rect">
            <a:avLst/>
          </a:prstGeom>
          <a:solidFill>
            <a:srgbClr val="5DADE2"/>
          </a:solidFill>
          <a:ln/>
        </p:spPr>
      </p:sp>
      <p:sp>
        <p:nvSpPr>
          <p:cNvPr id="19" name="Text 17"/>
          <p:cNvSpPr/>
          <p:nvPr/>
        </p:nvSpPr>
        <p:spPr>
          <a:xfrm>
            <a:off x="3653028" y="245059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11.9%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74320" y="279806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A4F63"/>
                </a:solidFill>
              </a:rPr>
              <a:t>Sales (self-sourced)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377440" y="2834640"/>
            <a:ext cx="608076" cy="201168"/>
          </a:xfrm>
          <a:prstGeom prst="rect">
            <a:avLst/>
          </a:prstGeom>
          <a:solidFill>
            <a:srgbClr val="E07B31"/>
          </a:solidFill>
          <a:ln/>
        </p:spPr>
      </p:sp>
      <p:sp>
        <p:nvSpPr>
          <p:cNvPr id="22" name="Text 20"/>
          <p:cNvSpPr/>
          <p:nvPr/>
        </p:nvSpPr>
        <p:spPr>
          <a:xfrm>
            <a:off x="3076956" y="279806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F93"/>
                </a:solidFill>
              </a:rPr>
              <a:t>6.2%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74320" y="314553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8463A"/>
                </a:solidFill>
              </a:rPr>
              <a:t>Paid Media 🔴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377440" y="3182112"/>
            <a:ext cx="320040" cy="201168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25" name="Text 23"/>
          <p:cNvSpPr/>
          <p:nvPr/>
        </p:nvSpPr>
        <p:spPr>
          <a:xfrm>
            <a:off x="2788920" y="3145536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463A"/>
                </a:solidFill>
              </a:rPr>
              <a:t>3.3%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3657600"/>
            <a:ext cx="5669280" cy="73152"/>
          </a:xfrm>
          <a:prstGeom prst="rect">
            <a:avLst/>
          </a:prstGeom>
          <a:solidFill>
            <a:srgbClr val="E84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274320" y="3730752"/>
            <a:ext cx="56692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2336" y="3785616"/>
            <a:ext cx="5413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540"/>
                </a:solidFill>
              </a:rPr>
              <a:t>⚠️ Paid Media: 120 opps, 4 wins, $1,770 MRR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2336" y="4041648"/>
            <a:ext cx="5413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F63"/>
                </a:solidFill>
              </a:rPr>
              <a:t>70% of pipeline is Sales (outbound) at 6.2% win rate. Inbound channels at 21–32%. Reallocate budget toward SEO/content. Audit paid media cost-per-win vs. inbound.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26480" y="1115568"/>
            <a:ext cx="0" cy="393192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111556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0F2540"/>
                </a:solidFill>
              </a:rPr>
              <a:t>SDR PERFORMANCE — SHOW RATE + WIN RATE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309360" y="1371600"/>
            <a:ext cx="5349240" cy="2286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33" name="Text 31"/>
          <p:cNvSpPr/>
          <p:nvPr/>
        </p:nvSpPr>
        <p:spPr>
          <a:xfrm>
            <a:off x="6355080" y="138988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SDR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8503920" y="138988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Mtgs Set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098280" y="138988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NS%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9692640" y="138988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Completed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0469880" y="138988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Win Rate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1109960" y="1389888"/>
            <a:ext cx="685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W/Cmpl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6309360" y="1618488"/>
            <a:ext cx="5349240" cy="265176"/>
          </a:xfrm>
          <a:prstGeom prst="rect">
            <a:avLst/>
          </a:prstGeom>
          <a:solidFill>
            <a:srgbClr val="D4EDDA"/>
          </a:solidFill>
          <a:ln/>
        </p:spPr>
      </p:sp>
      <p:sp>
        <p:nvSpPr>
          <p:cNvPr id="40" name="Text 38"/>
          <p:cNvSpPr/>
          <p:nvPr/>
        </p:nvSpPr>
        <p:spPr>
          <a:xfrm>
            <a:off x="6355080" y="1664208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A7A3A"/>
                </a:solidFill>
              </a:rPr>
              <a:t>No SDR ("None")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8503920" y="16642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848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9098280" y="1664208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7AE60"/>
                </a:solidFill>
              </a:rPr>
              <a:t>28.8%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9692640" y="166420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604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10469880" y="166420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AE60"/>
                </a:solidFill>
              </a:rPr>
              <a:t>11.5%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1109960" y="1664208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AE60"/>
                </a:solidFill>
              </a:rPr>
              <a:t>16.2%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6309360" y="1901952"/>
            <a:ext cx="5349240" cy="2651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6355080" y="194767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4F63"/>
                </a:solidFill>
              </a:rPr>
              <a:t>Nand Patel</a:t>
            </a:r>
            <a:endParaRPr lang="en-US" sz="780" dirty="0"/>
          </a:p>
        </p:txBody>
      </p:sp>
      <p:sp>
        <p:nvSpPr>
          <p:cNvPr id="48" name="Text 46"/>
          <p:cNvSpPr/>
          <p:nvPr/>
        </p:nvSpPr>
        <p:spPr>
          <a:xfrm>
            <a:off x="8503920" y="194767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20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9098280" y="1947672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7AE60"/>
                </a:solidFill>
              </a:rPr>
              <a:t>20.0%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9692640" y="1947672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16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0469880" y="194767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5.0%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11109960" y="1947672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6.3%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309360" y="2185416"/>
            <a:ext cx="5349240" cy="265176"/>
          </a:xfrm>
          <a:prstGeom prst="rect">
            <a:avLst/>
          </a:prstGeom>
          <a:solidFill>
            <a:srgbClr val="FFF8F0"/>
          </a:solidFill>
          <a:ln/>
        </p:spPr>
      </p:sp>
      <p:sp>
        <p:nvSpPr>
          <p:cNvPr id="54" name="Text 52"/>
          <p:cNvSpPr/>
          <p:nvPr/>
        </p:nvSpPr>
        <p:spPr>
          <a:xfrm>
            <a:off x="6355080" y="223113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4F63"/>
                </a:solidFill>
              </a:rPr>
              <a:t>Abbey McIntosh</a:t>
            </a:r>
            <a:endParaRPr lang="en-US" sz="780" dirty="0"/>
          </a:p>
        </p:txBody>
      </p:sp>
      <p:sp>
        <p:nvSpPr>
          <p:cNvPr id="55" name="Text 53"/>
          <p:cNvSpPr/>
          <p:nvPr/>
        </p:nvSpPr>
        <p:spPr>
          <a:xfrm>
            <a:off x="8503920" y="223113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108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9098280" y="2231136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07B31"/>
                </a:solidFill>
              </a:rPr>
              <a:t>25.9%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9692640" y="2231136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80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10469880" y="2231136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3.7%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11109960" y="2231136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5.0%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309360" y="2468880"/>
            <a:ext cx="5349240" cy="2651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6355080" y="251460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4F63"/>
                </a:solidFill>
              </a:rPr>
              <a:t>Davis Herndon*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8503920" y="251460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65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9098280" y="2514600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39C12"/>
                </a:solidFill>
              </a:rPr>
              <a:t>36.9%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9692640" y="251460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41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10469880" y="2514600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6.2%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1109960" y="2514600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9.8%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309360" y="2752344"/>
            <a:ext cx="5349240" cy="2651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6355080" y="27980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4F63"/>
                </a:solidFill>
              </a:rPr>
              <a:t>Jaylin Bender*</a:t>
            </a:r>
            <a:endParaRPr lang="en-US" sz="780" dirty="0"/>
          </a:p>
        </p:txBody>
      </p:sp>
      <p:sp>
        <p:nvSpPr>
          <p:cNvPr id="69" name="Text 67"/>
          <p:cNvSpPr/>
          <p:nvPr/>
        </p:nvSpPr>
        <p:spPr>
          <a:xfrm>
            <a:off x="8503920" y="279806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50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098280" y="2798064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44.0%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692640" y="2798064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28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10469880" y="2798064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6.0%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11109960" y="2798064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10.7%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309360" y="3035808"/>
            <a:ext cx="5349240" cy="265176"/>
          </a:xfrm>
          <a:prstGeom prst="rect">
            <a:avLst/>
          </a:prstGeom>
          <a:solidFill>
            <a:srgbClr val="FDF3E7"/>
          </a:solidFill>
          <a:ln/>
        </p:spPr>
      </p:sp>
      <p:sp>
        <p:nvSpPr>
          <p:cNvPr id="75" name="Text 73"/>
          <p:cNvSpPr/>
          <p:nvPr/>
        </p:nvSpPr>
        <p:spPr>
          <a:xfrm>
            <a:off x="6355080" y="3081528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4F63"/>
                </a:solidFill>
              </a:rPr>
              <a:t>Mitchell Davidson</a:t>
            </a:r>
            <a:endParaRPr lang="en-US" sz="780" dirty="0"/>
          </a:p>
        </p:txBody>
      </p:sp>
      <p:sp>
        <p:nvSpPr>
          <p:cNvPr id="76" name="Text 74"/>
          <p:cNvSpPr/>
          <p:nvPr/>
        </p:nvSpPr>
        <p:spPr>
          <a:xfrm>
            <a:off x="8503920" y="308152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60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9098280" y="3081528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45.0%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9692640" y="308152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33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10469880" y="308152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3.3%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11109960" y="3081528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6.1%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6309360" y="3319272"/>
            <a:ext cx="5349240" cy="265176"/>
          </a:xfrm>
          <a:prstGeom prst="rect">
            <a:avLst/>
          </a:prstGeom>
          <a:solidFill>
            <a:srgbClr val="FDE8E7"/>
          </a:solidFill>
          <a:ln/>
        </p:spPr>
      </p:sp>
      <p:sp>
        <p:nvSpPr>
          <p:cNvPr id="82" name="Text 80"/>
          <p:cNvSpPr/>
          <p:nvPr/>
        </p:nvSpPr>
        <p:spPr>
          <a:xfrm>
            <a:off x="6355080" y="33649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4F63"/>
                </a:solidFill>
              </a:rPr>
              <a:t>Prosper Firi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8503920" y="336499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41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9098280" y="3364992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48.8%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9692640" y="3364992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21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10469880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0%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11109960" y="3364992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0%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6309360" y="3602736"/>
            <a:ext cx="5349240" cy="265176"/>
          </a:xfrm>
          <a:prstGeom prst="rect">
            <a:avLst/>
          </a:prstGeom>
          <a:solidFill>
            <a:srgbClr val="FDE8E7"/>
          </a:solidFill>
          <a:ln/>
        </p:spPr>
      </p:sp>
      <p:sp>
        <p:nvSpPr>
          <p:cNvPr id="89" name="Text 87"/>
          <p:cNvSpPr/>
          <p:nvPr/>
        </p:nvSpPr>
        <p:spPr>
          <a:xfrm>
            <a:off x="6355080" y="364845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4F63"/>
                </a:solidFill>
              </a:rPr>
              <a:t>Emily Petraglia</a:t>
            </a:r>
            <a:endParaRPr lang="en-US" sz="780" dirty="0"/>
          </a:p>
        </p:txBody>
      </p:sp>
      <p:sp>
        <p:nvSpPr>
          <p:cNvPr id="90" name="Text 88"/>
          <p:cNvSpPr/>
          <p:nvPr/>
        </p:nvSpPr>
        <p:spPr>
          <a:xfrm>
            <a:off x="8503920" y="364845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12</a:t>
            </a:r>
            <a:endParaRPr lang="en-US" sz="750" dirty="0"/>
          </a:p>
        </p:txBody>
      </p:sp>
      <p:sp>
        <p:nvSpPr>
          <p:cNvPr id="91" name="Text 89"/>
          <p:cNvSpPr/>
          <p:nvPr/>
        </p:nvSpPr>
        <p:spPr>
          <a:xfrm>
            <a:off x="9098280" y="3648456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50.0%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9692640" y="3648456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6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10469880" y="3648456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0%</a:t>
            </a:r>
            <a:endParaRPr lang="en-US" sz="750" dirty="0"/>
          </a:p>
        </p:txBody>
      </p:sp>
      <p:sp>
        <p:nvSpPr>
          <p:cNvPr id="94" name="Text 92"/>
          <p:cNvSpPr/>
          <p:nvPr/>
        </p:nvSpPr>
        <p:spPr>
          <a:xfrm>
            <a:off x="11109960" y="3648456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0%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6309360" y="3886200"/>
            <a:ext cx="5349240" cy="265176"/>
          </a:xfrm>
          <a:prstGeom prst="rect">
            <a:avLst/>
          </a:prstGeom>
          <a:solidFill>
            <a:srgbClr val="FDE8E7"/>
          </a:solidFill>
          <a:ln/>
        </p:spPr>
      </p:sp>
      <p:sp>
        <p:nvSpPr>
          <p:cNvPr id="96" name="Text 94"/>
          <p:cNvSpPr/>
          <p:nvPr/>
        </p:nvSpPr>
        <p:spPr>
          <a:xfrm>
            <a:off x="6355080" y="393192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4F63"/>
                </a:solidFill>
              </a:rPr>
              <a:t>Jailyn Johnson</a:t>
            </a:r>
            <a:endParaRPr lang="en-US" sz="780" dirty="0"/>
          </a:p>
        </p:txBody>
      </p:sp>
      <p:sp>
        <p:nvSpPr>
          <p:cNvPr id="97" name="Text 95"/>
          <p:cNvSpPr/>
          <p:nvPr/>
        </p:nvSpPr>
        <p:spPr>
          <a:xfrm>
            <a:off x="8503920" y="393192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8</a:t>
            </a:r>
            <a:endParaRPr lang="en-US" sz="750" dirty="0"/>
          </a:p>
        </p:txBody>
      </p:sp>
      <p:sp>
        <p:nvSpPr>
          <p:cNvPr id="98" name="Text 96"/>
          <p:cNvSpPr/>
          <p:nvPr/>
        </p:nvSpPr>
        <p:spPr>
          <a:xfrm>
            <a:off x="9098280" y="3931920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8463A"/>
                </a:solidFill>
              </a:rPr>
              <a:t>75.0%🔴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9692640" y="39319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2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10469880" y="3931920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0%</a:t>
            </a:r>
            <a:endParaRPr lang="en-US" sz="750" dirty="0"/>
          </a:p>
        </p:txBody>
      </p:sp>
      <p:sp>
        <p:nvSpPr>
          <p:cNvPr id="101" name="Text 99"/>
          <p:cNvSpPr/>
          <p:nvPr/>
        </p:nvSpPr>
        <p:spPr>
          <a:xfrm>
            <a:off x="11109960" y="3931920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8463A"/>
                </a:solidFill>
              </a:rPr>
              <a:t>0%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6309360" y="4224528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F93"/>
                </a:solidFill>
              </a:rPr>
              <a:t>* Dual AE+SDR roles. Non-SDR meetings no-show at 28.8% — every SDR except Nand Patel makes it worse.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3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2011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8463A"/>
                </a:solidFill>
              </a:rPr>
              <a:t>RECOMMENDATIONS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11480"/>
            <a:ext cx="11704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540"/>
                </a:solidFill>
              </a:rPr>
              <a:t>10 Actions, Prioritized by Speed-to-Impact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1704320" cy="0"/>
          </a:xfrm>
          <a:prstGeom prst="line">
            <a:avLst/>
          </a:prstGeom>
          <a:noFill/>
          <a:ln w="12700">
            <a:solidFill>
              <a:srgbClr val="DDE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115568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115568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261872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" y="1161288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Interview Butler — Build Show-Rate Playbook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76656" y="1353312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14.6% no-show at real volume (41 opps), 14.3% win-from-completed. Dahlstrom stat was inflated by management running his deals — he was let go. Butler is the real benchmark. Extract and deploy team-wide.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76656" y="1554480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Sales Mgmt — This Week  |  +$3–5K/mo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1783080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" y="1783080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1929384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76656" y="1828800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Work Billing Pipeline with Mgmt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6656" y="2020824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Losh Network (Stage 5) + Vision CTS (CW renewal April). 30% close rate = 3–4 closes from 11 deals.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76656" y="2221992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Ryan Koontz — This Week  |  ~$3K MRR fast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274320" y="2450592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2450592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2596896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6656" y="2496312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Launch Apollo 2 Re-Engagement (March)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76656" y="2688336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"The feature you needed ships next month." 98 unlocked deals / $101,759 MRR. Work top-down by value.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76656" y="2889504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Sales + Marketing — March  |  $10–25K MRR / 90 days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274320" y="3118104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3118104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27" name="Text 25"/>
          <p:cNvSpPr/>
          <p:nvPr/>
        </p:nvSpPr>
        <p:spPr>
          <a:xfrm>
            <a:off x="274320" y="3264408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76656" y="3163824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Tigerpaw Migration — Retention Priority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76656" y="3355848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80–100 migration-intent accounts. Existing customers = retention play, NOT new MRR. Protect the base; value = churn prevention + long-term ARPU lift.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76656" y="3557016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Evan + Ryan — Q1–Q2  |  Churn prevention + ARPU lift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274320" y="3785616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" y="3785616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33" name="Text 31"/>
          <p:cNvSpPr/>
          <p:nvPr/>
        </p:nvSpPr>
        <p:spPr>
          <a:xfrm>
            <a:off x="274320" y="3931920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" y="3831336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Coach Davies: Pipeline Leaking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76656" y="4023360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$11,630 open pipeline, 6.3% win rate. Manager-assisted deal reviews. If at median: +$5K MRR.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676656" y="4224528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Sales Mgmt — Immediate  |  +$3–5K MRR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6172200" y="1115568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72200" y="1115568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39" name="Text 37"/>
          <p:cNvSpPr/>
          <p:nvPr/>
        </p:nvSpPr>
        <p:spPr>
          <a:xfrm>
            <a:off x="6172200" y="1261872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74536" y="1161288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Audit Paid Media — Likely Negative ROI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574536" y="1353312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3.3% win rate on 120 opps = $1,770 MRR. At any real CPL, this is negative ROI. Pull spend, compute cost-per-win, reallocate to SEO/content.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574536" y="1554480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Jennifer Hopkins — Q1  |  Budget reallocation to 32% channels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172200" y="1783080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172200" y="1783080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45" name="Text 43"/>
          <p:cNvSpPr/>
          <p:nvPr/>
        </p:nvSpPr>
        <p:spPr>
          <a:xfrm>
            <a:off x="6172200" y="1929384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74536" y="1828800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Overhaul SDR Lead Quality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574536" y="2020824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SDR opps close at ~5% vs 11.5% for no-SDR. 4 SDRs have zero wins combined. Implement ICP scoring before booking. Quality &gt; volume.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6574536" y="2221992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Sales Mgmt — Q1  |  Win rate lift from SDR pipeline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6172200" y="2450592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72200" y="2450592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51" name="Text 49"/>
          <p:cNvSpPr/>
          <p:nvPr/>
        </p:nvSpPr>
        <p:spPr>
          <a:xfrm>
            <a:off x="6172200" y="2596896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8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574536" y="2496312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Build IT MSP Displacement Motion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574536" y="2688336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CW/Kaseya/Halo targets. Currently 0 competitive wins. Needs battlecards, reference cases, targeted outreach.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6574536" y="2889504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Marketing + Sales — Q2–Q3  |  3–5× at scale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6172200" y="3118104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72200" y="3118104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57" name="Text 55"/>
          <p:cNvSpPr/>
          <p:nvPr/>
        </p:nvSpPr>
        <p:spPr>
          <a:xfrm>
            <a:off x="6172200" y="3264408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9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6574536" y="3163824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Study Herndon's Buyer Profile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574536" y="3355848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$1,153 avg deal (2× team). What industries/sizes/personas? This is the high-value ICP template for the future.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6574536" y="3557016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Sales Ops / Revay — Q1  |  Strategic ICP shift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6172200" y="3785616"/>
            <a:ext cx="5669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172200" y="3785616"/>
            <a:ext cx="329184" cy="603504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63" name="Text 61"/>
          <p:cNvSpPr/>
          <p:nvPr/>
        </p:nvSpPr>
        <p:spPr>
          <a:xfrm>
            <a:off x="6172200" y="3931920"/>
            <a:ext cx="329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6574536" y="3831336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2540"/>
                </a:solidFill>
              </a:rPr>
              <a:t>Diagnose November Collapse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6574536" y="4023360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4F63"/>
                </a:solidFill>
              </a:rPr>
              <a:t>Same volume as September, half the win rate. What changed? Answers prevent January from becoming the new normal.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6574536" y="4224528"/>
            <a:ext cx="5212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</a:rPr>
              <a:t>Sales Ops — Q1  |  Prevents further deceleration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Rev.io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Rev.io PSA Web — GTM Performance Analysis</dc:title>
  <dc:subject>PSA Web GTM Performance Analysis</dc:subject>
  <dc:creator>Revay AI</dc:creator>
  <cp:lastModifiedBy>Revay AI</cp:lastModifiedBy>
  <cp:revision>1</cp:revision>
  <dcterms:created xsi:type="dcterms:W3CDTF">2026-02-24T21:36:14Z</dcterms:created>
  <dcterms:modified xsi:type="dcterms:W3CDTF">2026-02-24T21:36:14Z</dcterms:modified>
</cp:coreProperties>
</file>