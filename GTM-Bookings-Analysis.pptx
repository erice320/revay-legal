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9B4D9"/>
                </a:solidFill>
              </a:rPr>
              <a:t>CONFIDENTIAL — INTERNAL USE ONLY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PSA Web GTM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Performance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A"/>
                </a:solidFill>
              </a:rPr>
              <a:t>Phases 1–6: Baseline · Funnel Autopsy · Rep Benchmarking · ICP Analysis · Quick Wins · 5× Math Model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515600" cy="0"/>
          </a:xfrm>
          <a:prstGeom prst="line">
            <a:avLst/>
          </a:prstGeom>
          <a:noFill/>
          <a:ln w="12700">
            <a:solidFill>
              <a:srgbClr val="2A5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PSA Web Wins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118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$75,940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118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Total MRR Won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836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Win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5554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5×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554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Bookings Target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406908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9B"/>
                </a:solidFill>
              </a:rPr>
              <a:t>Data as of February 24, 2026  |  Salesforce PSA Web (post-launch Jun 29, 2025)  |  Prepared by Revay 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The Headline: 67% of Losses Are Fixable. The Market Is Untapped.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5577840" cy="73152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18872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" y="1243584"/>
            <a:ext cx="5321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🔴 The Execution Problem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2336" y="1499616"/>
            <a:ext cx="53218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Discovery No-Shows account for 34.8% of all losses — the prospect ghosted the demo before it started. Not Right Time adds 17.2% more. Only 1.6% are competitive losses. This is a show-rate problem, not a product problem.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5040" y="1115568"/>
            <a:ext cx="566928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0" y="1188720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3056" y="1243584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🟢 The Market Opportunity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3056" y="1499616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62% of PSA Web wins came from security integrators and AV companies — a "bridge market." Real ICP (IT MSPs on CW/Kaseya/Halo) = only 11 wins out of 115. That market is essentially untouched. Product is now ready.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404872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2459736"/>
            <a:ext cx="5321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⚡ 3 Near-Term Levers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02336" y="2715768"/>
            <a:ext cx="53218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1. Fix show rates — Dahlstrom at 2.6% vs 35% team avg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2. Billing cross-sell — 3× win rate, $1,433 avg deal, 52 lost prospects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3. Rebalance marketing — SEO/website at 32%/21% win rate vs paid media at 3.3%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2331720"/>
            <a:ext cx="5669280" cy="73152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20" name="Shape 18"/>
          <p:cNvSpPr/>
          <p:nvPr/>
        </p:nvSpPr>
        <p:spPr>
          <a:xfrm>
            <a:off x="6035040" y="2404872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2459736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📐 The 5× Path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63056" y="2715768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 single fix reaches 5×. The math requires: (1) execution fixes in Q1, (2) near-term pipeline activation in Q2, and (3) IT MSP market development in H2. Each phase modeled in Section 7.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584448"/>
            <a:ext cx="11430000" cy="10972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7490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Core Finding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" y="405993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67% of losses happened before product was ever evaluated — fix the front of the funnel first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" y="440740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The real ICP (IT MSPs) was underserved while the product was being built — that changes now with Apollo 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" y="475488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5× is achievable in 12–18 months with the right sequencing: fix → activate → expand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1 — BASELINE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7 Months In: $9,526/Mo Average — Decelerating Since October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115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Total Wins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22860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24328" y="1188720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$75,940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87752" y="1636776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Total MRR Won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93776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4748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$660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01091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Avg MRR / Deal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17804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8776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$9,526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5119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Mo. Avg (Jul–Jan)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418320" y="1143000"/>
            <a:ext cx="2194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528048" y="118872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5×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491472" y="1636776"/>
            <a:ext cx="20482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Bookings Target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893039"/>
            <a:ext cx="1291590" cy="947441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2691871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$9K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43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Jul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7.7%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03070" y="3049757"/>
            <a:ext cx="1291590" cy="790723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1703070" y="2848589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$7K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7030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Aug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70307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31820" y="2955173"/>
            <a:ext cx="1291590" cy="885307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3131820" y="2754005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$8K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1318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Sep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1318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12.2%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560570" y="2194560"/>
            <a:ext cx="1291590" cy="1645920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60570" y="1993392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$15K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5605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Oct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6057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10.1%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989320" y="2800795"/>
            <a:ext cx="1291590" cy="103968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5989320" y="259962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$10K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9893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Nov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9893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418070" y="2665355"/>
            <a:ext cx="1291590" cy="117512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7418070" y="246418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$11K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4180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Dec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846820" y="3229777"/>
            <a:ext cx="1291590" cy="61070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6" name="Text 44"/>
          <p:cNvSpPr/>
          <p:nvPr/>
        </p:nvSpPr>
        <p:spPr>
          <a:xfrm>
            <a:off x="8846820" y="3028609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$6K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8468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Jan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8468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4.7%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0275570" y="3153705"/>
            <a:ext cx="1291590" cy="68677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50" name="Text 48"/>
          <p:cNvSpPr/>
          <p:nvPr/>
        </p:nvSpPr>
        <p:spPr>
          <a:xfrm>
            <a:off x="10275570" y="295253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$6K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02755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Feb*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4320" y="404164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F93"/>
                </a:solidFill>
              </a:rPr>
              <a:t>Win Rate: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74320" y="4224528"/>
            <a:ext cx="1143000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54" name="Shape 52"/>
          <p:cNvSpPr/>
          <p:nvPr/>
        </p:nvSpPr>
        <p:spPr>
          <a:xfrm>
            <a:off x="274320" y="4297680"/>
            <a:ext cx="11430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" y="4352544"/>
            <a:ext cx="11173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⚠️ The Deceleration Signal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02336" y="4608576"/>
            <a:ext cx="11173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October peaked at $15,470 (22 wins). January had MORE pipeline (201 closures) but the WORST win rate (4.7%) — 2.6× lower than September. Pipeline volume is not the problem. Diagnosing the quality/execution collapse between October and January is the critical unlock.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2 — FUNNEL AUTOPSY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The Funnel Breaks at the Front: 34.8% Never Show Up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15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LOSS REASONS — 1,137 DEALS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Discovery No-Show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453896"/>
            <a:ext cx="548640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396 deals  34.8%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74320" y="1801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Not Right Time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51760" y="1837944"/>
            <a:ext cx="2701636" cy="219456"/>
          </a:xfrm>
          <a:prstGeom prst="rect">
            <a:avLst/>
          </a:prstGeom>
          <a:solidFill>
            <a:srgbClr val="E07B31"/>
          </a:solidFill>
          <a:ln/>
        </p:spPr>
      </p:sp>
      <p:sp>
        <p:nvSpPr>
          <p:cNvPr id="13" name="Text 11"/>
          <p:cNvSpPr/>
          <p:nvPr/>
        </p:nvSpPr>
        <p:spPr>
          <a:xfrm>
            <a:off x="5444836" y="1801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195 deals  17.2%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74320" y="21854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Missing Features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2221992"/>
            <a:ext cx="2327564" cy="21945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5070764" y="21854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168 deals  14.8%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" y="256946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 Decision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51760" y="2606040"/>
            <a:ext cx="1648691" cy="219456"/>
          </a:xfrm>
          <a:prstGeom prst="rect">
            <a:avLst/>
          </a:prstGeom>
          <a:solidFill>
            <a:srgbClr val="777777"/>
          </a:solidFill>
          <a:ln/>
        </p:spPr>
      </p:sp>
      <p:sp>
        <p:nvSpPr>
          <p:cNvPr id="19" name="Text 17"/>
          <p:cNvSpPr/>
          <p:nvPr/>
        </p:nvSpPr>
        <p:spPr>
          <a:xfrm>
            <a:off x="4391891" y="256946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119 deals  10.5%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4320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Price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651760" y="2990088"/>
            <a:ext cx="1108364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3851564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80 deals  7.0%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337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Lost to Competitor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651760" y="3374136"/>
            <a:ext cx="249382" cy="21945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25" name="Text 23"/>
          <p:cNvSpPr/>
          <p:nvPr/>
        </p:nvSpPr>
        <p:spPr>
          <a:xfrm>
            <a:off x="2992582" y="3337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18 deals  1.6%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35040" y="1115568"/>
            <a:ext cx="0" cy="310896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115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CYCLE TIME (WINS ONLY)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141732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27648" y="1463040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9 Days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291072" y="191109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Median to Close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06840" y="141732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16568" y="1463040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12.6 Days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079992" y="191109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Avg to Close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17920" y="239572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27648" y="244144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41%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91072" y="288950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Close ≤7 Days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006840" y="239572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116568" y="244144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9%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079992" y="288950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Take 30+ Days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17920" y="3383280"/>
            <a:ext cx="539496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1" name="Shape 39"/>
          <p:cNvSpPr/>
          <p:nvPr/>
        </p:nvSpPr>
        <p:spPr>
          <a:xfrm>
            <a:off x="6217920" y="3456432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45936" y="3511296"/>
            <a:ext cx="5138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✅ Speed = Signal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45936" y="3767328"/>
            <a:ext cx="51389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Abarno median: 5 days. Fast cycles = qualified buyers. Herndon averages 25 days but wins $1,153/deal — the only exception worth studying. Everything else: if it drags, it likely dies.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4224528"/>
            <a:ext cx="11430000" cy="9144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475488" y="43891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Key: 67% of Losses Are Pre-Product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75488" y="470001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No-Show (35%) + Not Right Time (17%) + No Decision (11%) = 63% of losses never evaluated the product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5488" y="504748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Competitive losses = only 1.6% — do NOT invest in competitive positioning at the expense of execution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3 — REP BENCHMARKING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Two Failure Modes: Show Rate vs. Conversion. Flynn Has the Most Meetings and the Worst Close Rate.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1078992"/>
            <a:ext cx="11978640" cy="246888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" y="1097280"/>
            <a:ext cx="207568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Rep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276856" y="1097280"/>
            <a:ext cx="52120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Total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871216" y="1097280"/>
            <a:ext cx="58521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No-Show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529584" y="1097280"/>
            <a:ext cx="47548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NS%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078224" y="1097280"/>
            <a:ext cx="70408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Completed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855464" y="1097280"/>
            <a:ext cx="38404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12664" y="1097280"/>
            <a:ext cx="52120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Win/All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07024" y="1097280"/>
            <a:ext cx="74980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Win/Completed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729984" y="1097280"/>
            <a:ext cx="173736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Assessment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1440" y="1335024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" y="1371600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Patrick Davies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2276856" y="137160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158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871216" y="1371600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58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529584" y="137160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36.7%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078224" y="1371600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100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855464" y="137160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312664" y="137160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3.2%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907024" y="137160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5.0%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29984" y="13716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Conversion Crisis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1440" y="1600200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" y="1636776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Jake Mitchell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276856" y="163677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156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871216" y="1636776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529584" y="1636776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32.1%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078224" y="1636776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855464" y="1636776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312664" y="163677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5.1%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907024" y="163677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7.5%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729984" y="1636776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Fix Both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91440" y="1865376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28016" y="1901952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Husam Zalmiyar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2276856" y="190195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131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871216" y="1901952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57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529584" y="1901952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43.5%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078224" y="1901952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74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855464" y="190195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312664" y="190195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3.8%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907024" y="19019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6.8%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729984" y="1901952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Show Rate: Urgent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91440" y="2130552"/>
            <a:ext cx="11978640" cy="246888"/>
          </a:xfrm>
          <a:prstGeom prst="rect">
            <a:avLst/>
          </a:prstGeom>
          <a:solidFill>
            <a:srgbClr val="FFF8F0"/>
          </a:solidFill>
          <a:ln/>
        </p:spPr>
      </p:sp>
      <p:sp>
        <p:nvSpPr>
          <p:cNvPr id="48" name="Text 46"/>
          <p:cNvSpPr/>
          <p:nvPr/>
        </p:nvSpPr>
        <p:spPr>
          <a:xfrm>
            <a:off x="128016" y="2167128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Connor Flynn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2276856" y="216712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130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871216" y="2167128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21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3529584" y="2167128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16.2%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078224" y="2167128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109★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855464" y="2167128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312664" y="216712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4.6%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5907024" y="216712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5.5%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6729984" y="2167128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Best Show→Worst Close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91440" y="2395728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128016" y="2432304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Jake Borah</a:t>
            </a:r>
            <a:endParaRPr lang="en-US" sz="780" dirty="0"/>
          </a:p>
        </p:txBody>
      </p:sp>
      <p:sp>
        <p:nvSpPr>
          <p:cNvPr id="59" name="Text 57"/>
          <p:cNvSpPr/>
          <p:nvPr/>
        </p:nvSpPr>
        <p:spPr>
          <a:xfrm>
            <a:off x="2276856" y="243230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115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871216" y="2432304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46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3529584" y="243230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40.0%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4078224" y="2432304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855464" y="2432304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312664" y="243230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7.8%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907024" y="2432304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13.0%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729984" y="243230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Fix Show Rate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91440" y="2660904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68" name="Text 66"/>
          <p:cNvSpPr/>
          <p:nvPr/>
        </p:nvSpPr>
        <p:spPr>
          <a:xfrm>
            <a:off x="128016" y="2697480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Jaylin Bender</a:t>
            </a:r>
            <a:endParaRPr lang="en-US" sz="780" dirty="0"/>
          </a:p>
        </p:txBody>
      </p:sp>
      <p:sp>
        <p:nvSpPr>
          <p:cNvPr id="69" name="Text 67"/>
          <p:cNvSpPr/>
          <p:nvPr/>
        </p:nvSpPr>
        <p:spPr>
          <a:xfrm>
            <a:off x="2276856" y="269748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92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2871216" y="2697480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33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3529584" y="269748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35.9%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4078224" y="2697480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59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4855464" y="269748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5312664" y="269748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5.4%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5907024" y="269748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8.5%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6729984" y="26974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Fix Show Rate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1440" y="2926080"/>
            <a:ext cx="11978640" cy="246888"/>
          </a:xfrm>
          <a:prstGeom prst="rect">
            <a:avLst/>
          </a:prstGeom>
          <a:solidFill>
            <a:srgbClr val="EFFFEF"/>
          </a:solidFill>
          <a:ln/>
        </p:spPr>
      </p:sp>
      <p:sp>
        <p:nvSpPr>
          <p:cNvPr id="78" name="Text 76"/>
          <p:cNvSpPr/>
          <p:nvPr/>
        </p:nvSpPr>
        <p:spPr>
          <a:xfrm>
            <a:off x="128016" y="2962656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Joseph Abarno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2276856" y="296265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91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2871216" y="2962656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33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3529584" y="2962656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36.3%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4078224" y="2962656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58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4855464" y="2962656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19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5312664" y="296265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20.9%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5907024" y="296265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32.8%🏆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6729984" y="2962656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Team Template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91440" y="3191256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88" name="Text 86"/>
          <p:cNvSpPr/>
          <p:nvPr/>
        </p:nvSpPr>
        <p:spPr>
          <a:xfrm>
            <a:off x="128016" y="3227832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Andy Whisenant</a:t>
            </a:r>
            <a:endParaRPr lang="en-US" sz="780" dirty="0"/>
          </a:p>
        </p:txBody>
      </p:sp>
      <p:sp>
        <p:nvSpPr>
          <p:cNvPr id="89" name="Text 87"/>
          <p:cNvSpPr/>
          <p:nvPr/>
        </p:nvSpPr>
        <p:spPr>
          <a:xfrm>
            <a:off x="2276856" y="322783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84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2871216" y="3227832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30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3529584" y="3227832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35.7%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4078224" y="3227832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54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4855464" y="322783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5312664" y="322783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10.7%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5907024" y="322783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16.7%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729984" y="3227832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980B9"/>
                </a:solidFill>
              </a:rPr>
              <a:t>Solid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91440" y="3456432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128016" y="3493008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Matt Salin</a:t>
            </a:r>
            <a:endParaRPr lang="en-US" sz="780" dirty="0"/>
          </a:p>
        </p:txBody>
      </p:sp>
      <p:sp>
        <p:nvSpPr>
          <p:cNvPr id="99" name="Text 97"/>
          <p:cNvSpPr/>
          <p:nvPr/>
        </p:nvSpPr>
        <p:spPr>
          <a:xfrm>
            <a:off x="2276856" y="349300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81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2871216" y="3493008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24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3529584" y="3493008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29.6%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4078224" y="3493008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57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4855464" y="3493008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5312664" y="349300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12.3%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5907024" y="349300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17.5%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6729984" y="3493008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980B9"/>
                </a:solidFill>
              </a:rPr>
              <a:t>Solid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91440" y="3721608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108" name="Text 106"/>
          <p:cNvSpPr/>
          <p:nvPr/>
        </p:nvSpPr>
        <p:spPr>
          <a:xfrm>
            <a:off x="128016" y="3758184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Reese Middleton</a:t>
            </a:r>
            <a:endParaRPr lang="en-US" sz="780" dirty="0"/>
          </a:p>
        </p:txBody>
      </p:sp>
      <p:sp>
        <p:nvSpPr>
          <p:cNvPr id="109" name="Text 107"/>
          <p:cNvSpPr/>
          <p:nvPr/>
        </p:nvSpPr>
        <p:spPr>
          <a:xfrm>
            <a:off x="2276856" y="375818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78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2871216" y="3758184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21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3529584" y="37581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26.9%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4078224" y="3758184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57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4855464" y="3758184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5312664" y="375818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9.0%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5907024" y="3758184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12.3%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6729984" y="375818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980B9"/>
                </a:solidFill>
              </a:rPr>
              <a:t>Solid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91440" y="3986784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8" name="Text 116"/>
          <p:cNvSpPr/>
          <p:nvPr/>
        </p:nvSpPr>
        <p:spPr>
          <a:xfrm>
            <a:off x="128016" y="4023360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Davis Herndon</a:t>
            </a:r>
            <a:endParaRPr lang="en-US" sz="780" dirty="0"/>
          </a:p>
        </p:txBody>
      </p:sp>
      <p:sp>
        <p:nvSpPr>
          <p:cNvPr id="119" name="Text 117"/>
          <p:cNvSpPr/>
          <p:nvPr/>
        </p:nvSpPr>
        <p:spPr>
          <a:xfrm>
            <a:off x="2276856" y="402336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53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2871216" y="4023360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17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3529584" y="402336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32.1%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4078224" y="4023360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36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4855464" y="402336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5312664" y="402336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7.5%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5907024" y="402336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11.1%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6729984" y="402336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44AD"/>
                </a:solidFill>
              </a:rPr>
              <a:t>Study ($1,153 avg)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91440" y="4251960"/>
            <a:ext cx="11978640" cy="246888"/>
          </a:xfrm>
          <a:prstGeom prst="rect">
            <a:avLst/>
          </a:prstGeom>
          <a:solidFill>
            <a:srgbClr val="EEF8FF"/>
          </a:solidFill>
          <a:ln/>
        </p:spPr>
      </p:sp>
      <p:sp>
        <p:nvSpPr>
          <p:cNvPr id="128" name="Text 126"/>
          <p:cNvSpPr/>
          <p:nvPr/>
        </p:nvSpPr>
        <p:spPr>
          <a:xfrm>
            <a:off x="128016" y="4288536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Jamie Butler ✅</a:t>
            </a:r>
            <a:endParaRPr lang="en-US" sz="780" dirty="0"/>
          </a:p>
        </p:txBody>
      </p:sp>
      <p:sp>
        <p:nvSpPr>
          <p:cNvPr id="129" name="Text 127"/>
          <p:cNvSpPr/>
          <p:nvPr/>
        </p:nvSpPr>
        <p:spPr>
          <a:xfrm>
            <a:off x="2276856" y="428853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41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2871216" y="4288536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3529584" y="4288536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14.6%</a:t>
            </a:r>
            <a:endParaRPr lang="en-US" sz="750" dirty="0"/>
          </a:p>
        </p:txBody>
      </p:sp>
      <p:sp>
        <p:nvSpPr>
          <p:cNvPr id="132" name="Text 130"/>
          <p:cNvSpPr/>
          <p:nvPr/>
        </p:nvSpPr>
        <p:spPr>
          <a:xfrm>
            <a:off x="4078224" y="4288536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35</a:t>
            </a:r>
            <a:endParaRPr lang="en-US" sz="750" dirty="0"/>
          </a:p>
        </p:txBody>
      </p:sp>
      <p:sp>
        <p:nvSpPr>
          <p:cNvPr id="133" name="Text 131"/>
          <p:cNvSpPr/>
          <p:nvPr/>
        </p:nvSpPr>
        <p:spPr>
          <a:xfrm>
            <a:off x="4855464" y="4288536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5312664" y="428853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12.2%</a:t>
            </a:r>
            <a:endParaRPr lang="en-US" sz="750" dirty="0"/>
          </a:p>
        </p:txBody>
      </p:sp>
      <p:sp>
        <p:nvSpPr>
          <p:cNvPr id="135" name="Text 133"/>
          <p:cNvSpPr/>
          <p:nvPr/>
        </p:nvSpPr>
        <p:spPr>
          <a:xfrm>
            <a:off x="5907024" y="42885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14.3%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6729984" y="4288536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Show Rate Model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91440" y="4517136"/>
            <a:ext cx="11978640" cy="2468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8" name="Text 136"/>
          <p:cNvSpPr/>
          <p:nvPr/>
        </p:nvSpPr>
        <p:spPr>
          <a:xfrm>
            <a:off x="128016" y="4553712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B7F93"/>
                </a:solidFill>
              </a:rPr>
              <a:t>Dahlstrom (gone)</a:t>
            </a:r>
            <a:endParaRPr lang="en-US" sz="780" dirty="0"/>
          </a:p>
        </p:txBody>
      </p:sp>
      <p:sp>
        <p:nvSpPr>
          <p:cNvPr id="139" name="Text 137"/>
          <p:cNvSpPr/>
          <p:nvPr/>
        </p:nvSpPr>
        <p:spPr>
          <a:xfrm>
            <a:off x="2276856" y="455371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38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2871216" y="4553712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1</a:t>
            </a:r>
            <a:endParaRPr lang="en-US" sz="750" dirty="0"/>
          </a:p>
        </p:txBody>
      </p:sp>
      <p:sp>
        <p:nvSpPr>
          <p:cNvPr id="141" name="Text 139"/>
          <p:cNvSpPr/>
          <p:nvPr/>
        </p:nvSpPr>
        <p:spPr>
          <a:xfrm>
            <a:off x="3529584" y="4553712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27AE60"/>
                </a:solidFill>
              </a:rPr>
              <a:t>2.6%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4078224" y="4553712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37</a:t>
            </a:r>
            <a:endParaRPr lang="en-US" sz="750" dirty="0"/>
          </a:p>
        </p:txBody>
      </p:sp>
      <p:sp>
        <p:nvSpPr>
          <p:cNvPr id="143" name="Text 141"/>
          <p:cNvSpPr/>
          <p:nvPr/>
        </p:nvSpPr>
        <p:spPr>
          <a:xfrm>
            <a:off x="4855464" y="455371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8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5312664" y="455371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—</a:t>
            </a:r>
            <a:endParaRPr lang="en-US" sz="750" dirty="0"/>
          </a:p>
        </p:txBody>
      </p:sp>
      <p:sp>
        <p:nvSpPr>
          <p:cNvPr id="145" name="Text 143"/>
          <p:cNvSpPr/>
          <p:nvPr/>
        </p:nvSpPr>
        <p:spPr>
          <a:xfrm>
            <a:off x="5907024" y="455371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3A4F63"/>
                </a:solidFill>
              </a:rPr>
              <a:t>—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6729984" y="4553712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Mgmt-inflated/invalid</a:t>
            </a:r>
            <a:endParaRPr lang="en-US" sz="750" dirty="0"/>
          </a:p>
        </p:txBody>
      </p:sp>
      <p:sp>
        <p:nvSpPr>
          <p:cNvPr id="147" name="Text 145"/>
          <p:cNvSpPr/>
          <p:nvPr/>
        </p:nvSpPr>
        <p:spPr>
          <a:xfrm>
            <a:off x="91440" y="3877056"/>
            <a:ext cx="1197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F93"/>
                </a:solidFill>
              </a:rPr>
              <a:t>★ Most completed meetings on team (109) — lowest close rate (5.5%). Win/Completed = wins ÷ meetings that actually happened.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91440" y="4059936"/>
            <a:ext cx="11978640" cy="115214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49" name="Text 147"/>
          <p:cNvSpPr/>
          <p:nvPr/>
        </p:nvSpPr>
        <p:spPr>
          <a:xfrm>
            <a:off x="292608" y="4224528"/>
            <a:ext cx="1157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Two Failure Modes Require Different Fixes</a:t>
            </a:r>
            <a:endParaRPr lang="en-US" sz="1200" dirty="0"/>
          </a:p>
        </p:txBody>
      </p:sp>
      <p:sp>
        <p:nvSpPr>
          <p:cNvPr id="150" name="Text 148"/>
          <p:cNvSpPr/>
          <p:nvPr/>
        </p:nvSpPr>
        <p:spPr>
          <a:xfrm>
            <a:off x="292608" y="4535424"/>
            <a:ext cx="11576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GROUP 1 — Show Rate Problem: Husam (43.5%), Borah (40%), Bender (35.9%) → fix = ICP qualification + confirmation before booking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292608" y="4882896"/>
            <a:ext cx="11576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GROUP 2 — Conversion Problem: Flynn (5.5% from 109 completed), Davies (5.0%), Mitchell (7.5%) → fix = discovery/demo coaching</a:t>
            </a:r>
            <a:endParaRPr lang="en-US" sz="900" dirty="0"/>
          </a:p>
        </p:txBody>
      </p:sp>
      <p:sp>
        <p:nvSpPr>
          <p:cNvPr id="152" name="Text 150"/>
          <p:cNvSpPr/>
          <p:nvPr/>
        </p:nvSpPr>
        <p:spPr>
          <a:xfrm>
            <a:off x="292608" y="5230368"/>
            <a:ext cx="11576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BENCHMARK: Butler (14.6% no-show, real volume) is now the show-rate model. Dahlstrom stats were inflated by management running his deals.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4 — ICP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We've Been Selling to the Wrong Buyers — By Design. Now We Don't Have To.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11430000" cy="9601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2801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🎯 Bridge Market vs. Real ICP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159105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Bridge market (Security Integrators + AV): 68 wins, 59% of total, avg $557/deal — bought while product was being built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19385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Real ICP (IT MSPs on CW/Kaseya/Halo): only 11 wins (10%), avg $512/deal — barely targeted, product now ready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5488" y="228600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GTM motion must shift from "who will buy what we have" → "who should be buying this"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22128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2540"/>
                </a:solidFill>
              </a:rPr>
              <a:t>WINS BY INDUSTRY (115 TOTAL)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40280" y="2523744"/>
            <a:ext cx="347472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24871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Security Integrator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806440" y="24871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51 wins  $30K MRR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240280" y="2825496"/>
            <a:ext cx="1567031" cy="219456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7889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UCaaS / VoIP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898751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23 wins  $19K MRR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40280" y="3127248"/>
            <a:ext cx="115824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309067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AV / Home Automation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89960" y="3090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17 wins  $10K MRR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240280" y="3429000"/>
            <a:ext cx="613186" cy="21945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39242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7AE60"/>
                </a:solidFill>
              </a:rPr>
              <a:t>MSP - No Voice (Real ICP)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906" y="33924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9 wins  $5K MRR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240280" y="3730752"/>
            <a:ext cx="272527" cy="219456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36941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Business Support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604247" y="36941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4 wins  $4K MRR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40280" y="4032504"/>
            <a:ext cx="136264" cy="219456"/>
          </a:xfrm>
          <a:prstGeom prst="rect">
            <a:avLst/>
          </a:prstGeom>
          <a:solidFill>
            <a:srgbClr val="5DADE2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39959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ISP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67984" y="39959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 wins  $2K MRR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240280" y="4334256"/>
            <a:ext cx="613186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Other / Cabling / SaaS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944906" y="4297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9 wins  $5K MRR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35040" y="2212848"/>
            <a:ext cx="0" cy="274320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221284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2540"/>
                </a:solidFill>
              </a:rPr>
              <a:t>WINS BY ACCOUNT TYPE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217920" y="2487168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2532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Rev.io PSA Client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326880" y="253288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68 wins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149840" y="253288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$643 avg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871216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55080" y="291693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Tigerpaw Churn / Client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326880" y="291693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38 wins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149840" y="291693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$564 avg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3255264"/>
            <a:ext cx="5303520" cy="320040"/>
          </a:xfrm>
          <a:prstGeom prst="rect">
            <a:avLst/>
          </a:prstGeom>
          <a:solidFill>
            <a:srgbClr val="D4EDDA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330098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A3A"/>
                </a:solidFill>
              </a:rPr>
              <a:t>Rev.io Billing Client ★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326880" y="330098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4 wins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149840" y="33009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$1,433 avg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17920" y="3639312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55080" y="36850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PSA Churn + Other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26880" y="36850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5 wins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49840" y="368503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$840 avg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17920" y="40416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7AE60"/>
                </a:solidFill>
              </a:rPr>
              <a:t>★ Billing clients = 30% win rate (3× team avg) — 4 won, 52 lost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74320" y="4251960"/>
            <a:ext cx="1143000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54" name="Shape 52"/>
          <p:cNvSpPr/>
          <p:nvPr/>
        </p:nvSpPr>
        <p:spPr>
          <a:xfrm>
            <a:off x="274320" y="4325112"/>
            <a:ext cx="11430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" y="4379976"/>
            <a:ext cx="11173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📊 Tigerpaw Base — A Retention Story, Not a Bookings Story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02336" y="4636008"/>
            <a:ext cx="11173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~650 Tigerpaw clients not yet migrated. ~110 zombie accounts. ~540 real candidates, 80–100 confirmed intent. IMPORTANT: These are existing paying customers — migration is net retention + long-term price lift, NOT new bookings MRR. Protect the base; do not count toward 5× target.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5 — QUICK WINS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$110K+ in Near-Term Bookings Pipeline Identified — Plus a Retention Priority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2743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61288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$101,759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596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Apollo 2 Re-Engagements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154680" y="1115568"/>
            <a:ext cx="2560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64408" y="1161288"/>
            <a:ext cx="2340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98 Deals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27832" y="1609344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Fully Unlocked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52160" y="1115568"/>
            <a:ext cx="2560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61888" y="1161288"/>
            <a:ext cx="2340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$9,089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25312" y="1609344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Billing Pipeline Open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549640" y="1115568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59368" y="1161288"/>
            <a:ext cx="27980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</a:rPr>
              <a:t>80–100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622792" y="1609344"/>
            <a:ext cx="2871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Tigerpaw Migration-Intent (Retention)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48840"/>
            <a:ext cx="365760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2221992"/>
            <a:ext cx="3657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2336" y="227685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🚀 Quick Win #1: Apollo 2 Re-Engagements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02336" y="2532888"/>
            <a:ext cx="34015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98 feature-gap losses fully unlocked by April 2026 roadmap. Reach out in March — before ship — with: "The feature you needed ships next month. Want to see it early?" Work list top-down by MRR.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69080" y="2148840"/>
            <a:ext cx="3657600" cy="73152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24" name="Shape 22"/>
          <p:cNvSpPr/>
          <p:nvPr/>
        </p:nvSpPr>
        <p:spPr>
          <a:xfrm>
            <a:off x="4069080" y="2221992"/>
            <a:ext cx="3657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97096" y="227685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💼 Quick Win #2: Billing Cross-Sell Pipeline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97096" y="2532888"/>
            <a:ext cx="34015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11 open deals / $9,089 MRR. Existing customers — easiest closes in the system. 30% win rate vs 9.2% avg. Losh Network at Stage 5 and Vision CTS (CW renewal April '26) are the priority.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63840" y="2148840"/>
            <a:ext cx="370332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0" y="2221992"/>
            <a:ext cx="37033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91856" y="2276856"/>
            <a:ext cx="3447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🛡️ Retention: Tigerpaw Migration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91856" y="2532888"/>
            <a:ext cx="34472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Existing customers — migration is NOT new MRR. Value = preventing churn + long-term price lift on PSA Web. Prioritize 80–100 hot-intent accounts. Also: NinjaOne 9 accounts / $6,900 MRR — integration ships Apollo 2.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74320" y="3364992"/>
            <a:ext cx="11430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BILLING CROSS-SELL — OPEN DEALS (PRIORITY ORDER)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3611880"/>
            <a:ext cx="11430000" cy="256032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Account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6576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3504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Stage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7724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MRR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1440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Action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3867912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Losh Network Services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365760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03504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5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777240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$1,004</a:t>
            </a:r>
            <a:endParaRPr lang="en-US" sz="820" dirty="0"/>
          </a:p>
        </p:txBody>
      </p:sp>
      <p:sp>
        <p:nvSpPr>
          <p:cNvPr id="43" name="Text 41"/>
          <p:cNvSpPr/>
          <p:nvPr/>
        </p:nvSpPr>
        <p:spPr>
          <a:xfrm>
            <a:off x="9144000" y="3895344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CLOSE THIS WEEK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74320" y="4105656"/>
            <a:ext cx="11430000" cy="219456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Clear Rate PSA III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365760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Jamie Butler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603504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4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777240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$500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9144000" y="4133088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980B9"/>
                </a:solidFill>
              </a:rPr>
              <a:t>Advance to close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" y="4343400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Tricom Technology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365760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603504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3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777240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$1,220</a:t>
            </a:r>
            <a:endParaRPr lang="en-US" sz="820" dirty="0"/>
          </a:p>
        </p:txBody>
      </p:sp>
      <p:sp>
        <p:nvSpPr>
          <p:cNvPr id="55" name="Text 53"/>
          <p:cNvSpPr/>
          <p:nvPr/>
        </p:nvSpPr>
        <p:spPr>
          <a:xfrm>
            <a:off x="9144000" y="437083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39C12"/>
                </a:solidFill>
              </a:rPr>
              <a:t>Accelerate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74320" y="4581144"/>
            <a:ext cx="11430000" cy="219456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VTX Telecom</a:t>
            </a:r>
            <a:endParaRPr lang="en-US" sz="820" dirty="0"/>
          </a:p>
        </p:txBody>
      </p:sp>
      <p:sp>
        <p:nvSpPr>
          <p:cNvPr id="58" name="Text 56"/>
          <p:cNvSpPr/>
          <p:nvPr/>
        </p:nvSpPr>
        <p:spPr>
          <a:xfrm>
            <a:off x="365760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Joseph Abarno</a:t>
            </a:r>
            <a:endParaRPr lang="en-US" sz="820" dirty="0"/>
          </a:p>
        </p:txBody>
      </p:sp>
      <p:sp>
        <p:nvSpPr>
          <p:cNvPr id="59" name="Text 57"/>
          <p:cNvSpPr/>
          <p:nvPr/>
        </p:nvSpPr>
        <p:spPr>
          <a:xfrm>
            <a:off x="603504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1</a:t>
            </a:r>
            <a:endParaRPr lang="en-US" sz="820" dirty="0"/>
          </a:p>
        </p:txBody>
      </p:sp>
      <p:sp>
        <p:nvSpPr>
          <p:cNvPr id="60" name="Text 58"/>
          <p:cNvSpPr/>
          <p:nvPr/>
        </p:nvSpPr>
        <p:spPr>
          <a:xfrm>
            <a:off x="777240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$1,680</a:t>
            </a:r>
            <a:endParaRPr lang="en-US" sz="820" dirty="0"/>
          </a:p>
        </p:txBody>
      </p:sp>
      <p:sp>
        <p:nvSpPr>
          <p:cNvPr id="61" name="Text 59"/>
          <p:cNvSpPr/>
          <p:nvPr/>
        </p:nvSpPr>
        <p:spPr>
          <a:xfrm>
            <a:off x="9144000" y="4608576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3A5C"/>
                </a:solidFill>
              </a:rPr>
              <a:t>Qualify fast (largest)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74320" y="4818888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Vision CTS PSA II</a:t>
            </a:r>
            <a:endParaRPr lang="en-US" sz="820" dirty="0"/>
          </a:p>
        </p:txBody>
      </p:sp>
      <p:sp>
        <p:nvSpPr>
          <p:cNvPr id="64" name="Text 62"/>
          <p:cNvSpPr/>
          <p:nvPr/>
        </p:nvSpPr>
        <p:spPr>
          <a:xfrm>
            <a:off x="365760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03504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1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777240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$1,260</a:t>
            </a:r>
            <a:endParaRPr lang="en-US" sz="820" dirty="0"/>
          </a:p>
        </p:txBody>
      </p:sp>
      <p:sp>
        <p:nvSpPr>
          <p:cNvPr id="67" name="Text 65"/>
          <p:cNvSpPr/>
          <p:nvPr/>
        </p:nvSpPr>
        <p:spPr>
          <a:xfrm>
            <a:off x="9144000" y="4846320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63A"/>
                </a:solidFill>
              </a:rPr>
              <a:t>⚡ CW renewal Apr '26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6 — 5× MATH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5× Requires Three Levers. None Alone Is Enough. Timeline: 12–18 Months.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$9,526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Current Mo. Avg (1.0×)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6324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7296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$47,630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13639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5× Target / Month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5216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6188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$38,104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2531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Monthly Gap to Close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641080" y="1115568"/>
            <a:ext cx="2926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50808" y="1161288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9.2% → 15%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714232" y="1609344"/>
            <a:ext cx="2779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Win Rate Journey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212848"/>
            <a:ext cx="3749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Fix Execution Only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233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980B9"/>
                </a:solidFill>
              </a:rPr>
              <a:t>$17,000/mo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0233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63A"/>
                </a:solidFill>
              </a:rPr>
              <a:t>1.8×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233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200 closures · 13% win rate · $650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Show-rate program deployed, reps coached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2212848"/>
            <a:ext cx="3749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3425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Execution + Near-Term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3425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$32,000/mo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33425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63A"/>
                </a:solidFill>
              </a:rPr>
              <a:t>3.4×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33425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250 closures · 14% win rate · $900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Billing cross-sell + Apollo 2 re-engagements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Marketing rebalanced · Early IT MSP wins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38160" y="2212848"/>
            <a:ext cx="3749040" cy="2011680"/>
          </a:xfrm>
          <a:prstGeom prst="rect">
            <a:avLst/>
          </a:prstGeom>
          <a:solidFill>
            <a:srgbClr val="FFFFFF"/>
          </a:solidFill>
          <a:ln w="38100">
            <a:solidFill>
              <a:srgbClr val="27AE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6617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C — TARGET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Full ICP Shift (5×)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6617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$54,000/mo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26617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</a:rPr>
              <a:t>5.7×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6617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350–400 closures · 15% win rate · $950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IT MSP ICP dominant · CW/Kaseya displacement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Full GTM motion mature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4352544"/>
            <a:ext cx="11430000" cy="87782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" y="451713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📐 What Has to Be True for 5× (12–18 Month Roadmap)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75488" y="4828032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Q1 2026: Fix show rates · Close Billing pipeline · Apollo 2 re-engagements (March) · Audit paid media · SDR ICP qualification overhaul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" y="5175504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Q2–Q3 2026: Apollo 2 ships (April) · IT MSP messaging built · CW/Kaseya displacement motion launched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5488" y="552297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Q3–Q4 2026: IT MSP wins compound · Avg deal rises to $900–1,000 · Flywheel turns: each MSP win = 3–5 referrals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7 — MARKETING &amp; SDR ATTRIBUTION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Inbound Converts 3–5× Better. SDRs Are Booking the Wrong Meetings.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15568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WIN RATE BY MARKETING SOURCE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40817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7AE60"/>
                </a:solidFill>
              </a:rPr>
              <a:t>SEO 🏆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77440" y="1444752"/>
            <a:ext cx="3200400" cy="20116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0" y="140817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</a:rPr>
              <a:t>32.1%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74320" y="17556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Rev.io Summit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377440" y="1792224"/>
            <a:ext cx="2976372" cy="20116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5445252" y="175564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30.0%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74320" y="2103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Website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77440" y="2139696"/>
            <a:ext cx="2112264" cy="20116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6" name="Text 14"/>
          <p:cNvSpPr/>
          <p:nvPr/>
        </p:nvSpPr>
        <p:spPr>
          <a:xfrm>
            <a:off x="4581144" y="21031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21.2%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" y="245059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Tradeshow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77440" y="2487168"/>
            <a:ext cx="1184148" cy="201168"/>
          </a:xfrm>
          <a:prstGeom prst="rect">
            <a:avLst/>
          </a:prstGeom>
          <a:solidFill>
            <a:srgbClr val="5DADE2"/>
          </a:solidFill>
          <a:ln/>
        </p:spPr>
      </p:sp>
      <p:sp>
        <p:nvSpPr>
          <p:cNvPr id="19" name="Text 17"/>
          <p:cNvSpPr/>
          <p:nvPr/>
        </p:nvSpPr>
        <p:spPr>
          <a:xfrm>
            <a:off x="3653028" y="245059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11.9%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4320" y="279806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Sales (self-sourced)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377440" y="2834640"/>
            <a:ext cx="608076" cy="201168"/>
          </a:xfrm>
          <a:prstGeom prst="rect">
            <a:avLst/>
          </a:prstGeom>
          <a:solidFill>
            <a:srgbClr val="E07B31"/>
          </a:solidFill>
          <a:ln/>
        </p:spPr>
      </p:sp>
      <p:sp>
        <p:nvSpPr>
          <p:cNvPr id="22" name="Text 20"/>
          <p:cNvSpPr/>
          <p:nvPr/>
        </p:nvSpPr>
        <p:spPr>
          <a:xfrm>
            <a:off x="3076956" y="27980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6.2%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14553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463A"/>
                </a:solidFill>
              </a:rPr>
              <a:t>Paid Media 🔴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377440" y="3182112"/>
            <a:ext cx="320040" cy="201168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25" name="Text 23"/>
          <p:cNvSpPr/>
          <p:nvPr/>
        </p:nvSpPr>
        <p:spPr>
          <a:xfrm>
            <a:off x="2788920" y="314553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63A"/>
                </a:solidFill>
              </a:rPr>
              <a:t>3.3%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3657600"/>
            <a:ext cx="5669280" cy="73152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274320" y="3730752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2336" y="3785616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⚠️ Paid Media: 120 opps, 4 wins, $1,770 MRR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2336" y="4041648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70% of pipeline is Sales (outbound) at 6.2% win rate. Inbound channels at 21–32%. Reallocate budget toward SEO/content. Audit paid media cost-per-win vs. inbound.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26480" y="1115568"/>
            <a:ext cx="0" cy="393192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111556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F2540"/>
                </a:solidFill>
              </a:rPr>
              <a:t>SDR PERFORMANCE — SHOW RATE + WIN RATE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09360" y="1371600"/>
            <a:ext cx="5349240" cy="2286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SDR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850392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Total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09828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NS%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69264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46988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 Rate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10996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W/Cmpl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309360" y="1618488"/>
            <a:ext cx="5349240" cy="265176"/>
          </a:xfrm>
          <a:prstGeom prst="rect">
            <a:avLst/>
          </a:prstGeom>
          <a:solidFill>
            <a:srgbClr val="D4EDDA"/>
          </a:solidFill>
          <a:ln/>
        </p:spPr>
      </p:sp>
      <p:sp>
        <p:nvSpPr>
          <p:cNvPr id="40" name="Text 38"/>
          <p:cNvSpPr/>
          <p:nvPr/>
        </p:nvSpPr>
        <p:spPr>
          <a:xfrm>
            <a:off x="6355080" y="166420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A3A"/>
                </a:solidFill>
              </a:rPr>
              <a:t>No SDR ("None")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8503920" y="16642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848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9098280" y="1664208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28.8%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9692640" y="166420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604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0469880" y="166420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11.5%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1109960" y="1664208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16.2%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309360" y="1901952"/>
            <a:ext cx="5349240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355080" y="194767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Nand Patel</a:t>
            </a:r>
            <a:endParaRPr lang="en-US" sz="780" dirty="0"/>
          </a:p>
        </p:txBody>
      </p:sp>
      <p:sp>
        <p:nvSpPr>
          <p:cNvPr id="48" name="Text 46"/>
          <p:cNvSpPr/>
          <p:nvPr/>
        </p:nvSpPr>
        <p:spPr>
          <a:xfrm>
            <a:off x="8503920" y="19476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20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9098280" y="1947672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20.0%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692640" y="194767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16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0469880" y="194767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5.0%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1109960" y="194767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6.3%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309360" y="2185416"/>
            <a:ext cx="5349240" cy="265176"/>
          </a:xfrm>
          <a:prstGeom prst="rect">
            <a:avLst/>
          </a:prstGeom>
          <a:solidFill>
            <a:srgbClr val="FFF8F0"/>
          </a:solidFill>
          <a:ln/>
        </p:spPr>
      </p:sp>
      <p:sp>
        <p:nvSpPr>
          <p:cNvPr id="54" name="Text 52"/>
          <p:cNvSpPr/>
          <p:nvPr/>
        </p:nvSpPr>
        <p:spPr>
          <a:xfrm>
            <a:off x="6355080" y="223113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Abbey McIntosh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8503920" y="2231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108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9098280" y="2231136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07B31"/>
                </a:solidFill>
              </a:rPr>
              <a:t>25.9%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9692640" y="223113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80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10469880" y="2231136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3.7%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1109960" y="2231136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309360" y="2468880"/>
            <a:ext cx="5349240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6355080" y="251460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Davis Herndon*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8503920" y="251460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65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098280" y="2514600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36.9%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9692640" y="25146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41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469880" y="2514600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6.2%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1109960" y="251460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9.8%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309360" y="2752344"/>
            <a:ext cx="5349240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6355080" y="27980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Jaylin Bender*</a:t>
            </a:r>
            <a:endParaRPr lang="en-US" sz="780" dirty="0"/>
          </a:p>
        </p:txBody>
      </p:sp>
      <p:sp>
        <p:nvSpPr>
          <p:cNvPr id="69" name="Text 67"/>
          <p:cNvSpPr/>
          <p:nvPr/>
        </p:nvSpPr>
        <p:spPr>
          <a:xfrm>
            <a:off x="8503920" y="27980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50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098280" y="2798064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44.0%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692640" y="27980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28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0469880" y="279806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6.0%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1109960" y="2798064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10.7%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309360" y="3035808"/>
            <a:ext cx="5349240" cy="265176"/>
          </a:xfrm>
          <a:prstGeom prst="rect">
            <a:avLst/>
          </a:prstGeom>
          <a:solidFill>
            <a:srgbClr val="FDF3E7"/>
          </a:solidFill>
          <a:ln/>
        </p:spPr>
      </p:sp>
      <p:sp>
        <p:nvSpPr>
          <p:cNvPr id="75" name="Text 73"/>
          <p:cNvSpPr/>
          <p:nvPr/>
        </p:nvSpPr>
        <p:spPr>
          <a:xfrm>
            <a:off x="6355080" y="308152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Mitchell Davidson</a:t>
            </a:r>
            <a:endParaRPr lang="en-US" sz="780" dirty="0"/>
          </a:p>
        </p:txBody>
      </p:sp>
      <p:sp>
        <p:nvSpPr>
          <p:cNvPr id="76" name="Text 74"/>
          <p:cNvSpPr/>
          <p:nvPr/>
        </p:nvSpPr>
        <p:spPr>
          <a:xfrm>
            <a:off x="8503920" y="308152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60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9098280" y="3081528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45.0%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9692640" y="308152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33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10469880" y="308152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3.3%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11109960" y="3081528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6309360" y="3319272"/>
            <a:ext cx="5349240" cy="265176"/>
          </a:xfrm>
          <a:prstGeom prst="rect">
            <a:avLst/>
          </a:prstGeom>
          <a:solidFill>
            <a:srgbClr val="FDE8E7"/>
          </a:solidFill>
          <a:ln/>
        </p:spPr>
      </p:sp>
      <p:sp>
        <p:nvSpPr>
          <p:cNvPr id="82" name="Text 80"/>
          <p:cNvSpPr/>
          <p:nvPr/>
        </p:nvSpPr>
        <p:spPr>
          <a:xfrm>
            <a:off x="6355080" y="33649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Prosper Firi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8503920" y="336499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41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9098280" y="3364992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48.8%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9692640" y="336499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21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46988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1109960" y="336499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6309360" y="3602736"/>
            <a:ext cx="5349240" cy="265176"/>
          </a:xfrm>
          <a:prstGeom prst="rect">
            <a:avLst/>
          </a:prstGeom>
          <a:solidFill>
            <a:srgbClr val="FDE8E7"/>
          </a:solidFill>
          <a:ln/>
        </p:spPr>
      </p:sp>
      <p:sp>
        <p:nvSpPr>
          <p:cNvPr id="89" name="Text 87"/>
          <p:cNvSpPr/>
          <p:nvPr/>
        </p:nvSpPr>
        <p:spPr>
          <a:xfrm>
            <a:off x="6355080" y="364845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Emily Petraglia</a:t>
            </a:r>
            <a:endParaRPr lang="en-US" sz="780" dirty="0"/>
          </a:p>
        </p:txBody>
      </p:sp>
      <p:sp>
        <p:nvSpPr>
          <p:cNvPr id="90" name="Text 88"/>
          <p:cNvSpPr/>
          <p:nvPr/>
        </p:nvSpPr>
        <p:spPr>
          <a:xfrm>
            <a:off x="8503920" y="36484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9098280" y="3648456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50.0%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9692640" y="364845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10469880" y="3648456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11109960" y="3648456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309360" y="3886200"/>
            <a:ext cx="5349240" cy="265176"/>
          </a:xfrm>
          <a:prstGeom prst="rect">
            <a:avLst/>
          </a:prstGeom>
          <a:solidFill>
            <a:srgbClr val="FDE8E7"/>
          </a:solidFill>
          <a:ln/>
        </p:spPr>
      </p:sp>
      <p:sp>
        <p:nvSpPr>
          <p:cNvPr id="96" name="Text 94"/>
          <p:cNvSpPr/>
          <p:nvPr/>
        </p:nvSpPr>
        <p:spPr>
          <a:xfrm>
            <a:off x="6355080" y="393192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Jailyn Johnson</a:t>
            </a:r>
            <a:endParaRPr lang="en-US" sz="780" dirty="0"/>
          </a:p>
        </p:txBody>
      </p:sp>
      <p:sp>
        <p:nvSpPr>
          <p:cNvPr id="97" name="Text 95"/>
          <p:cNvSpPr/>
          <p:nvPr/>
        </p:nvSpPr>
        <p:spPr>
          <a:xfrm>
            <a:off x="8503920" y="3931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9098280" y="3931920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75.0%🔴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9692640" y="3931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10469880" y="3931920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11109960" y="393192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309360" y="4224528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F93"/>
                </a:solidFill>
              </a:rPr>
              <a:t>* Dual AE+SDR roles. Non-SDR meetings no-show at 28.8% — every SDR except Nand Patel makes it worse.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RECOMMENDATIONS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10 Actions, Prioritized by Speed-to-Impact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15568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261872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116128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Interview Butler — Build Show-Rate Playbook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76656" y="1353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14.6% no-show at real volume (41 opps), 14.3% win-from-completed. Dahlstrom stat was inflated by management running his deals — he was let go. Butler is the real benchmark. Extract and deploy team-wide.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76656" y="1554480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Mgmt — This Week  |  +$3–5K/mo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1783080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1783080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1929384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" y="182880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Work Billing Pipeline with Mgmt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" y="2020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Losh Network (Stage 5) + Vision CTS (CW renewal April). 30% close rate = 3–4 closes from 11 deals.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76656" y="2221992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Ryan Koontz — This Week  |  ~$3K MRR fast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74320" y="2450592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2450592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596896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6656" y="2496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Launch Apollo 2 Re-Engagement (March)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" y="2688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"The feature you needed ships next month." 98 unlocked deals / $101,759 MRR. Work top-down by value.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76656" y="2889504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+ Marketing — March  |  $10–25K MRR / 90 days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74320" y="3118104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118104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3264408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6656" y="3163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Tigerpaw Migration — Retention Priority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6656" y="335584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80–100 migration-intent accounts. Existing customers = retention play, NOT new MRR. Protect the base; value = churn prevention + long-term ARPU lift.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76656" y="3557016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Evan + Ryan — Q1–Q2  |  Churn prevention + ARPU lift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" y="3785616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3785616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274320" y="3931920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831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Coach Davies: Pipeline Leaking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76656" y="402336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$11,630 open pipeline, 6.3% win rate. Manager-assisted deal reviews. If at median: +$5K MRR.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76656" y="4224528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Mgmt — Immediate  |  +$3–5K MRR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172200" y="1115568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72200" y="1115568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1261872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74536" y="116128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Audit Paid Media — Likely Negative ROI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574536" y="1353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3.3% win rate on 120 opps = $1,770 MRR. At any real CPL, this is negative ROI. Pull spend, compute cost-per-win, reallocate to SEO/content.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574536" y="1554480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Jennifer Hopkins — Q1  |  Budget reallocation to 32% channels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172200" y="1783080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72200" y="1783080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6172200" y="1929384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74536" y="182880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Overhaul SDR Lead Quality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74536" y="2020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SDR opps close at ~5% vs 11.5% for no-SDR. 4 SDRs have zero wins combined. Implement ICP scoring before booking. Quality &gt; volume.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574536" y="2221992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Mgmt — Q1  |  Win rate lift from SDR pipeline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6172200" y="2450592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72200" y="2450592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51" name="Text 49"/>
          <p:cNvSpPr/>
          <p:nvPr/>
        </p:nvSpPr>
        <p:spPr>
          <a:xfrm>
            <a:off x="6172200" y="2596896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574536" y="2496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Build IT MSP Displacement Motion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74536" y="2688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CW/Kaseya/Halo targets. Currently 0 competitive wins. Needs battlecards, reference cases, targeted outreach.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574536" y="2889504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Marketing + Sales — Q2–Q3  |  3–5× at scale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172200" y="3118104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72200" y="3118104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57" name="Text 55"/>
          <p:cNvSpPr/>
          <p:nvPr/>
        </p:nvSpPr>
        <p:spPr>
          <a:xfrm>
            <a:off x="6172200" y="3264408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574536" y="3163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Study Herndon's Buyer Profile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74536" y="335584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$1,153 avg deal (2× team). What industries/sizes/personas? This is the high-value ICP template for the future.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6574536" y="3557016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Ops / Revay — Q1  |  Strategic ICP shift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6172200" y="3785616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72200" y="3785616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63" name="Text 61"/>
          <p:cNvSpPr/>
          <p:nvPr/>
        </p:nvSpPr>
        <p:spPr>
          <a:xfrm>
            <a:off x="6172200" y="3931920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574536" y="3831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Diagnose November Collapse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574536" y="402336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Same volume as September, half the win rate. What changed? Answers prevent January from becoming the new normal.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574536" y="4224528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Ops — Q1  |  Prevents further deceleration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Rev.io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Rev.io PSA Web — GTM Performance Analysis</dc:title>
  <dc:subject>PSA Web GTM Performance Analysis</dc:subject>
  <dc:creator>Revay AI</dc:creator>
  <cp:lastModifiedBy>Revay AI</cp:lastModifiedBy>
  <cp:revision>1</cp:revision>
  <dcterms:created xsi:type="dcterms:W3CDTF">2026-02-24T21:29:00Z</dcterms:created>
  <dcterms:modified xsi:type="dcterms:W3CDTF">2026-02-24T21:29:00Z</dcterms:modified>
</cp:coreProperties>
</file>