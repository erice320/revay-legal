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846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9B4D9"/>
                </a:solidFill>
              </a:rPr>
              <a:t>CONFIDENTIAL — INTERNAL USE ONLY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PSA Web GTM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Performance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A"/>
                </a:solidFill>
              </a:rPr>
              <a:t>Phases 1–6: Baseline · Funnel Autopsy · Rep Benchmarking · ICP Analysis · Quick Wins · 5× Math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515600" cy="0"/>
          </a:xfrm>
          <a:prstGeom prst="line">
            <a:avLst/>
          </a:prstGeom>
          <a:noFill/>
          <a:ln w="12700">
            <a:solidFill>
              <a:srgbClr val="2A5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B4D9"/>
                </a:solidFill>
              </a:rPr>
              <a:t>PSA Web Wins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188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$75,940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11880" y="3520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B4D9"/>
                </a:solidFill>
              </a:rPr>
              <a:t>Total MRR Won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9.2%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0" y="3520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B4D9"/>
                </a:solidFill>
              </a:rPr>
              <a:t>Win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55548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555480" y="3520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9B4D9"/>
                </a:solidFill>
              </a:rPr>
              <a:t>Bookings Target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9B"/>
                </a:solidFill>
              </a:rPr>
              <a:t>Data as of February 24, 2026  |  Salesforce PSA Web (post-launch Jun 29, 2025)  |  Prepared by Revay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The Headline: 67% of Losses Are Fixable. The Market Is Untapped.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5577840" cy="73152"/>
          </a:xfrm>
          <a:prstGeom prst="rect">
            <a:avLst/>
          </a:prstGeom>
          <a:solidFill>
            <a:srgbClr val="E8463A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243584"/>
            <a:ext cx="5321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🔴 The Execution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1499616"/>
            <a:ext cx="5321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Discovery No-Shows account for 34.8% of all losses — the prospect ghosted the demo before it started. Not Right Time adds 17.2% more. Only 1.6% are competitive losses. This is a show-rate problem, not a product problem.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115568"/>
            <a:ext cx="566928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118872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243584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🟢 The Market Opportunity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3056" y="1499616"/>
            <a:ext cx="5413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62% of PSA Web wins came from security integrators and AV companies — a "bridge market." Real ICP (IT MSPs on CW/Kaseya/Halo) = only 11 wins out of 115. That market is essentially untouched. Product is now ready.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57784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404872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59736"/>
            <a:ext cx="5321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⚡ 3 Near-Term Levers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" y="2715768"/>
            <a:ext cx="5321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1. Fix show rates — Dahlstrom at 2.6% vs 35% team avg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2. Billing cross-sell — 3× win rate, $1,433 avg deal, 52 lost prospects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3. Rebalance marketing — SEO/website at 32%/21% win rate vs paid media at 3.3%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2331720"/>
            <a:ext cx="566928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0" y="240487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2459736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📐 The 5× Path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63056" y="2715768"/>
            <a:ext cx="5413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No single fix reaches 5×. The math requires: (1) execution fixes in Q1, (2) near-term pipeline activation in Q2, and (3) IT MSP market development in H2. Each phase modeled in Section 7.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584448"/>
            <a:ext cx="11430000" cy="10972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74904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Core Finding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4059936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67% of losses happened before product was ever evaluated — fix the front of the funnel first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440740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The real ICP (IT MSPs) was underserved while the product was being built — that changes now with Apollo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" y="4754880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5× is achievable in 12–18 months with the right sequencing: fix → activate → expand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PHASE 1 — BASELINE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7 Months In: $9,526/Mo Average — Decelerating Since October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1887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115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63677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Total Wins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143000"/>
            <a:ext cx="2286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118872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$75,940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87752" y="1636776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Total MRR Won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0" y="114300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47488" y="11887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$660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10912" y="163677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Avg MRR / Deal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78040" y="114300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87768" y="11887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$9,526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51192" y="163677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Mo. Avg (Jul–Jan)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418320" y="114300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28048" y="118872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63A"/>
                </a:solidFill>
              </a:rPr>
              <a:t>5×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491472" y="1636776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Bookings Target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893039"/>
            <a:ext cx="1291590" cy="947441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691871"/>
            <a:ext cx="12915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540"/>
                </a:solidFill>
              </a:rPr>
              <a:t>$9K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" y="3877056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Jul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4041648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7.7%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703070" y="3049757"/>
            <a:ext cx="1291590" cy="790723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1703070" y="2848589"/>
            <a:ext cx="12915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540"/>
                </a:solidFill>
              </a:rPr>
              <a:t>$7K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703070" y="3877056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Aug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03070" y="4041648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6.1%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131820" y="2955173"/>
            <a:ext cx="1291590" cy="885307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3131820" y="2754005"/>
            <a:ext cx="12915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540"/>
                </a:solidFill>
              </a:rPr>
              <a:t>$8K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131820" y="3877056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Sep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31820" y="4041648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AE60"/>
                </a:solidFill>
              </a:rPr>
              <a:t>12.2%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60570" y="2194560"/>
            <a:ext cx="1291590" cy="1645920"/>
          </a:xfrm>
          <a:prstGeom prst="rect">
            <a:avLst/>
          </a:prstGeom>
          <a:solidFill>
            <a:srgbClr val="E8463A"/>
          </a:solidFill>
          <a:ln/>
        </p:spPr>
      </p:sp>
      <p:sp>
        <p:nvSpPr>
          <p:cNvPr id="35" name="Text 33"/>
          <p:cNvSpPr/>
          <p:nvPr/>
        </p:nvSpPr>
        <p:spPr>
          <a:xfrm>
            <a:off x="4560570" y="1993392"/>
            <a:ext cx="12915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63A"/>
                </a:solidFill>
              </a:rPr>
              <a:t>$15K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60570" y="3877056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Oct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60570" y="4041648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10.1%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989320" y="2800795"/>
            <a:ext cx="1291590" cy="103968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2599627"/>
            <a:ext cx="12915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540"/>
                </a:solidFill>
              </a:rPr>
              <a:t>$10K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89320" y="3877056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Nov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89320" y="4041648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6.1%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418070" y="2665355"/>
            <a:ext cx="1291590" cy="117512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7418070" y="2464187"/>
            <a:ext cx="12915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540"/>
                </a:solidFill>
              </a:rPr>
              <a:t>$11K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418070" y="3877056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Dec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846820" y="3229777"/>
            <a:ext cx="1291590" cy="610703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8846820" y="3028609"/>
            <a:ext cx="12915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540"/>
                </a:solidFill>
              </a:rPr>
              <a:t>$6K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846820" y="3877056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Jan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846820" y="4041648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63A"/>
                </a:solidFill>
              </a:rPr>
              <a:t>4.7%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275570" y="3153705"/>
            <a:ext cx="1291590" cy="68677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0" name="Text 48"/>
          <p:cNvSpPr/>
          <p:nvPr/>
        </p:nvSpPr>
        <p:spPr>
          <a:xfrm>
            <a:off x="10275570" y="2952537"/>
            <a:ext cx="12915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540"/>
                </a:solidFill>
              </a:rPr>
              <a:t>$6K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0275570" y="3877056"/>
            <a:ext cx="12915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Feb*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74320" y="40416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F93"/>
                </a:solidFill>
              </a:rPr>
              <a:t>Win Rate: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224528"/>
            <a:ext cx="11430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429768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" y="4352544"/>
            <a:ext cx="11173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⚠️ The Deceleration Signal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02336" y="4608576"/>
            <a:ext cx="11173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October peaked at $15,470 (22 wins). January had MORE pipeline (201 closures) but the WORST win rate (4.7%) — 2.6× lower than September. Pipeline volume is not the problem. Diagnosing the quality/execution collapse between October and January is the critical unlock.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PHASE 2 — FUNNEL AUTOPSY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The Funnel Breaks at the Front: 34.8% Never Show Up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540"/>
                </a:solidFill>
              </a:rPr>
              <a:t>LOSS REASONS — 1,137 DEALS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Discovery No-Show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453896"/>
            <a:ext cx="5486400" cy="219456"/>
          </a:xfrm>
          <a:prstGeom prst="rect">
            <a:avLst/>
          </a:prstGeom>
          <a:solidFill>
            <a:srgbClr val="E846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396 deals  34.8%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Not Right 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837944"/>
            <a:ext cx="2701636" cy="219456"/>
          </a:xfrm>
          <a:prstGeom prst="rect">
            <a:avLst/>
          </a:prstGeom>
          <a:solidFill>
            <a:srgbClr val="E07B31"/>
          </a:solidFill>
          <a:ln/>
        </p:spPr>
      </p:sp>
      <p:sp>
        <p:nvSpPr>
          <p:cNvPr id="13" name="Text 11"/>
          <p:cNvSpPr/>
          <p:nvPr/>
        </p:nvSpPr>
        <p:spPr>
          <a:xfrm>
            <a:off x="5444836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195 deals  17.2%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185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Missing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221992"/>
            <a:ext cx="2327564" cy="21945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5070764" y="2185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168 deals  14.8%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2569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No Decision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2606040"/>
            <a:ext cx="1648691" cy="219456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19" name="Text 17"/>
          <p:cNvSpPr/>
          <p:nvPr/>
        </p:nvSpPr>
        <p:spPr>
          <a:xfrm>
            <a:off x="4391891" y="2569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119 deals  10.5%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Price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51760" y="2990088"/>
            <a:ext cx="1108364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3851564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80 deals  7.0%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Lost to Competitor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3374136"/>
            <a:ext cx="249382" cy="21945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5" name="Text 23"/>
          <p:cNvSpPr/>
          <p:nvPr/>
        </p:nvSpPr>
        <p:spPr>
          <a:xfrm>
            <a:off x="2992582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18 deals  1.6%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1115568"/>
            <a:ext cx="0" cy="310896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115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540"/>
                </a:solidFill>
              </a:rPr>
              <a:t>CYCLE TIME (WINS ONLY)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27648" y="1463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9 Days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91072" y="1911096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Median to Close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06840" y="14173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16568" y="1463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12.6 Days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79992" y="1911096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Avg to Close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23957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27648" y="244144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41%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91072" y="288950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Close ≤7 Days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006840" y="23957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16568" y="244144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63A"/>
                </a:solidFill>
              </a:rPr>
              <a:t>9%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079992" y="288950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Take 30+ Days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17920" y="3383280"/>
            <a:ext cx="53949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7920" y="3456432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3511296"/>
            <a:ext cx="5138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✅ Speed = Signal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45936" y="3767328"/>
            <a:ext cx="5138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Abarno median: 5 days. Fast cycles = qualified buyers. Herndon averages 25 days but wins $1,153/deal — the only exception worth studying. Everything else: if it drags, it likely dies.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224528"/>
            <a:ext cx="11430000" cy="9144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" y="438912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Key: 67% of Losses Are Pre-Product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" y="4700016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No-Show (35%) + Not Right Time (17%) + No Decision (11%) = 63% of losses never evaluated the product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" y="504748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Competitive losses = only 1.6% — do NOT invest in competitive positioning at the expense of execution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PHASE 3 — REP BENCHMARKING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Abarno at 20.9% Proves What's Possible. Bottom Half of Team Is at Half That.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097280"/>
            <a:ext cx="11704320" cy="2743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1155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0" y="111556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Wins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91840" y="11155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Win Rate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0" y="111556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Avg MRR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11556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No-Show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0" y="111556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Open Pipeline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49440" y="11155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Assessment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" y="1371600"/>
            <a:ext cx="1170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140817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Joseph Abarno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2743200" y="140817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19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291840" y="140817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7AE60"/>
                </a:solidFill>
              </a:rPr>
              <a:t>20.9%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114800" y="140817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$769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892040" y="140817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463A"/>
                </a:solidFill>
              </a:rPr>
              <a:t>36.3%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669280" y="14081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$5,645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949440" y="14081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7AE60"/>
                </a:solidFill>
              </a:rPr>
              <a:t>Team Template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37160" y="1664208"/>
            <a:ext cx="11704320" cy="27432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170078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Andy Whisenant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2743200" y="17007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9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291840" y="170078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7AE60"/>
                </a:solidFill>
              </a:rPr>
              <a:t>10.7%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114800" y="170078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$591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892040" y="170078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463A"/>
                </a:solidFill>
              </a:rPr>
              <a:t>35.7%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669280" y="17007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$5,135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949440" y="17007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980B9"/>
                </a:solidFill>
              </a:rPr>
              <a:t>Solid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37160" y="1956816"/>
            <a:ext cx="1170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1993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Patrick Dahlstrom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2743200" y="199339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8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291840" y="19933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7AE60"/>
                </a:solidFill>
              </a:rPr>
              <a:t>10.5%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0" y="19933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$621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892040" y="19933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7AE60"/>
                </a:solidFill>
              </a:rPr>
              <a:t>2.6%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669280" y="19933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—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949440" y="1993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E44AD"/>
                </a:solidFill>
              </a:rPr>
              <a:t>Show Rate Coach 🏆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137160" y="2249424"/>
            <a:ext cx="11704320" cy="27432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228600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Jake Borah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2743200" y="228600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9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291840" y="228600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7AE60"/>
                </a:solidFill>
              </a:rPr>
              <a:t>10.4%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114800" y="228600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$604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892040" y="228600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463A"/>
                </a:solidFill>
              </a:rPr>
              <a:t>40.0%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5669280" y="22860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$4,375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6949440" y="22860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39C12"/>
                </a:solidFill>
              </a:rPr>
              <a:t>Fix Show Rate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137160" y="2542032"/>
            <a:ext cx="1170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25786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Jake Mitchell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2743200" y="25786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8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3291840" y="25786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7AE60"/>
                </a:solidFill>
              </a:rPr>
              <a:t>10.3%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4114800" y="257860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$584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4892040" y="257860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32.1%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5669280" y="25786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$5,075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949440" y="25786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980B9"/>
                </a:solidFill>
              </a:rPr>
              <a:t>Solid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137160" y="2834640"/>
            <a:ext cx="11704320" cy="27432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56" name="Text 54"/>
          <p:cNvSpPr/>
          <p:nvPr/>
        </p:nvSpPr>
        <p:spPr>
          <a:xfrm>
            <a:off x="182880" y="287121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Davis Herndon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2743200" y="287121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4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3291840" y="287121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7.5%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4114800" y="287121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$1,153 ★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4892040" y="287121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32.1%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5669280" y="28712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$2,995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6949440" y="2871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E44AD"/>
                </a:solidFill>
              </a:rPr>
              <a:t>Study Him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137160" y="3127248"/>
            <a:ext cx="1170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182880" y="316382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Jamie Butler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2743200" y="316382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5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3291840" y="31638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7.5%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4114800" y="316382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$627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4892040" y="316382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12.5%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5669280" y="31638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$8,155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6949440" y="31638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39C12"/>
                </a:solidFill>
              </a:rPr>
              <a:t>Large Pipeline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137160" y="3419856"/>
            <a:ext cx="11704320" cy="27432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2" name="Text 70"/>
          <p:cNvSpPr/>
          <p:nvPr/>
        </p:nvSpPr>
        <p:spPr>
          <a:xfrm>
            <a:off x="182880" y="34564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Connor Flynn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2743200" y="34564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6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3291840" y="345643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6.9%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4114800" y="345643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$606</a:t>
            </a:r>
            <a:endParaRPr lang="en-US" sz="820" dirty="0"/>
          </a:p>
        </p:txBody>
      </p:sp>
      <p:sp>
        <p:nvSpPr>
          <p:cNvPr id="76" name="Text 74"/>
          <p:cNvSpPr/>
          <p:nvPr/>
        </p:nvSpPr>
        <p:spPr>
          <a:xfrm>
            <a:off x="4892040" y="345643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16.2%</a:t>
            </a:r>
            <a:endParaRPr lang="en-US" sz="820" dirty="0"/>
          </a:p>
        </p:txBody>
      </p:sp>
      <p:sp>
        <p:nvSpPr>
          <p:cNvPr id="77" name="Text 75"/>
          <p:cNvSpPr/>
          <p:nvPr/>
        </p:nvSpPr>
        <p:spPr>
          <a:xfrm>
            <a:off x="5669280" y="34564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$7,499</a:t>
            </a:r>
            <a:endParaRPr lang="en-US" sz="820" dirty="0"/>
          </a:p>
        </p:txBody>
      </p:sp>
      <p:sp>
        <p:nvSpPr>
          <p:cNvPr id="78" name="Text 76"/>
          <p:cNvSpPr/>
          <p:nvPr/>
        </p:nvSpPr>
        <p:spPr>
          <a:xfrm>
            <a:off x="6949440" y="34564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39C12"/>
                </a:solidFill>
              </a:rPr>
              <a:t>Large Pipeline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137160" y="3712464"/>
            <a:ext cx="1170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182880" y="37490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Patrick Davies</a:t>
            </a:r>
            <a:endParaRPr lang="en-US" sz="820" dirty="0"/>
          </a:p>
        </p:txBody>
      </p:sp>
      <p:sp>
        <p:nvSpPr>
          <p:cNvPr id="81" name="Text 79"/>
          <p:cNvSpPr/>
          <p:nvPr/>
        </p:nvSpPr>
        <p:spPr>
          <a:xfrm>
            <a:off x="2743200" y="374904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5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3291840" y="374904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6.3%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4114800" y="37490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$625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4892040" y="37490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463A"/>
                </a:solidFill>
              </a:rPr>
              <a:t>36.7%</a:t>
            </a:r>
            <a:endParaRPr lang="en-US" sz="820" dirty="0"/>
          </a:p>
        </p:txBody>
      </p:sp>
      <p:sp>
        <p:nvSpPr>
          <p:cNvPr id="85" name="Text 83"/>
          <p:cNvSpPr/>
          <p:nvPr/>
        </p:nvSpPr>
        <p:spPr>
          <a:xfrm>
            <a:off x="5669280" y="374904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$11,630 ★★</a:t>
            </a:r>
            <a:endParaRPr lang="en-US" sz="820" dirty="0"/>
          </a:p>
        </p:txBody>
      </p:sp>
      <p:sp>
        <p:nvSpPr>
          <p:cNvPr id="86" name="Text 84"/>
          <p:cNvSpPr/>
          <p:nvPr/>
        </p:nvSpPr>
        <p:spPr>
          <a:xfrm>
            <a:off x="6949440" y="37490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463A"/>
                </a:solidFill>
              </a:rPr>
              <a:t>Most Pipeline/Low Close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137160" y="4005072"/>
            <a:ext cx="11704320" cy="27432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8" name="Text 86"/>
          <p:cNvSpPr/>
          <p:nvPr/>
        </p:nvSpPr>
        <p:spPr>
          <a:xfrm>
            <a:off x="182880" y="40416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A4F63"/>
                </a:solidFill>
              </a:rPr>
              <a:t>Husam Zalmiyar</a:t>
            </a:r>
            <a:endParaRPr lang="en-US" sz="820" dirty="0"/>
          </a:p>
        </p:txBody>
      </p:sp>
      <p:sp>
        <p:nvSpPr>
          <p:cNvPr id="89" name="Text 87"/>
          <p:cNvSpPr/>
          <p:nvPr/>
        </p:nvSpPr>
        <p:spPr>
          <a:xfrm>
            <a:off x="2743200" y="40416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5</a:t>
            </a:r>
            <a:endParaRPr lang="en-US" sz="820" dirty="0"/>
          </a:p>
        </p:txBody>
      </p:sp>
      <p:sp>
        <p:nvSpPr>
          <p:cNvPr id="90" name="Text 88"/>
          <p:cNvSpPr/>
          <p:nvPr/>
        </p:nvSpPr>
        <p:spPr>
          <a:xfrm>
            <a:off x="3291840" y="404164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463A"/>
                </a:solidFill>
              </a:rPr>
              <a:t>5.3%</a:t>
            </a:r>
            <a:endParaRPr lang="en-US" sz="820" dirty="0"/>
          </a:p>
        </p:txBody>
      </p:sp>
      <p:sp>
        <p:nvSpPr>
          <p:cNvPr id="91" name="Text 89"/>
          <p:cNvSpPr/>
          <p:nvPr/>
        </p:nvSpPr>
        <p:spPr>
          <a:xfrm>
            <a:off x="4114800" y="404164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$584</a:t>
            </a:r>
            <a:endParaRPr lang="en-US" sz="820" dirty="0"/>
          </a:p>
        </p:txBody>
      </p:sp>
      <p:sp>
        <p:nvSpPr>
          <p:cNvPr id="92" name="Text 90"/>
          <p:cNvSpPr/>
          <p:nvPr/>
        </p:nvSpPr>
        <p:spPr>
          <a:xfrm>
            <a:off x="4892040" y="404164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463A"/>
                </a:solidFill>
              </a:rPr>
              <a:t>43.5%</a:t>
            </a:r>
            <a:endParaRPr lang="en-US" sz="820" dirty="0"/>
          </a:p>
        </p:txBody>
      </p:sp>
      <p:sp>
        <p:nvSpPr>
          <p:cNvPr id="93" name="Text 91"/>
          <p:cNvSpPr/>
          <p:nvPr/>
        </p:nvSpPr>
        <p:spPr>
          <a:xfrm>
            <a:off x="5669280" y="40416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$4,760</a:t>
            </a:r>
            <a:endParaRPr lang="en-US" sz="820" dirty="0"/>
          </a:p>
        </p:txBody>
      </p:sp>
      <p:sp>
        <p:nvSpPr>
          <p:cNvPr id="94" name="Text 92"/>
          <p:cNvSpPr/>
          <p:nvPr/>
        </p:nvSpPr>
        <p:spPr>
          <a:xfrm>
            <a:off x="6949440" y="4041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463A"/>
                </a:solidFill>
              </a:rPr>
              <a:t>Urgent Intervention</a:t>
            </a:r>
            <a:endParaRPr lang="en-US" sz="820" dirty="0"/>
          </a:p>
        </p:txBody>
      </p:sp>
      <p:sp>
        <p:nvSpPr>
          <p:cNvPr id="95" name="Text 93"/>
          <p:cNvSpPr/>
          <p:nvPr/>
        </p:nvSpPr>
        <p:spPr>
          <a:xfrm>
            <a:off x="137160" y="4352544"/>
            <a:ext cx="1170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F93"/>
                </a:solidFill>
              </a:rPr>
              <a:t>★ Herndon avg deal 2× team avg — different buyer profile  |  ★★ Davies has most open pipeline — needs manager support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PHASE 4 — ICP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We've Been Selling to the Wrong Buyers — By Design. Now We Don't Have To.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1143000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28016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Bridge Market vs. Real ICP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91056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Bridge market (Security Integrators + AV): 68 wins, 59% of total, avg $557/deal — bought while product was being built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9385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Real ICP (IT MSPs on CW/Kaseya/Halo): only 11 wins (10%), avg $512/deal — barely targeted, product now ready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GTM motion must shift from "who will buy what we have" → "who should be buying this"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2128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2540"/>
                </a:solidFill>
              </a:rPr>
              <a:t>WINS BY INDUSTRY (115 TOTAL)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40280" y="2523744"/>
            <a:ext cx="3474720" cy="219456"/>
          </a:xfrm>
          <a:prstGeom prst="rect">
            <a:avLst/>
          </a:prstGeom>
          <a:solidFill>
            <a:srgbClr val="E8463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Security Integrator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06440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51 wins  $30K MRR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40280" y="2825496"/>
            <a:ext cx="1567031" cy="21945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UCaaS / VoIP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98751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23 wins  $19K MRR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40280" y="3127248"/>
            <a:ext cx="1158240" cy="219456"/>
          </a:xfrm>
          <a:prstGeom prst="rect">
            <a:avLst/>
          </a:prstGeom>
          <a:solidFill>
            <a:srgbClr val="E8463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090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AV / Home Automation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8996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17 wins  $10K MRR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40280" y="3429000"/>
            <a:ext cx="613186" cy="2194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3924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MSP - No Voice (Real ICP)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44906" y="3392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9 wins  $5K MRR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40280" y="3730752"/>
            <a:ext cx="272527" cy="21945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6941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Business Support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4247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4 wins  $4K MRR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40280" y="4032504"/>
            <a:ext cx="136264" cy="219456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995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ISP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67984" y="3995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2 wins  $2K MRR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40280" y="4334256"/>
            <a:ext cx="613186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Other / Cabling / SaaS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944906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9 wins  $5K MRR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35040" y="2212848"/>
            <a:ext cx="0" cy="274320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2128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2540"/>
                </a:solidFill>
              </a:rPr>
              <a:t>WINS BY ACCOUNT TYPE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7920" y="2487168"/>
            <a:ext cx="5303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53288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Rev.io PSA Client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26880" y="2532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68 wins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149840" y="25328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3"/>
                </a:solidFill>
              </a:rPr>
              <a:t>$643 avg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2871216"/>
            <a:ext cx="5303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91693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Tigerpaw Churn / Client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26880" y="291693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38 wins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149840" y="29169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3"/>
                </a:solidFill>
              </a:rPr>
              <a:t>$564 avg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3255264"/>
            <a:ext cx="5303520" cy="320040"/>
          </a:xfrm>
          <a:prstGeom prst="rect">
            <a:avLst/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30098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3A"/>
                </a:solidFill>
              </a:rPr>
              <a:t>Rev.io Billing Client 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26880" y="33009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4 wins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149840" y="33009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$1,433 avg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3639312"/>
            <a:ext cx="5303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36850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PSA Churn + Other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326880" y="36850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5 wins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149840" y="368503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3"/>
                </a:solidFill>
              </a:rPr>
              <a:t>$840 avg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0" y="40416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27AE60"/>
                </a:solidFill>
              </a:rPr>
              <a:t>★ Billing clients = 30% win rate (3× team avg) — 4 won, 52 lost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4251960"/>
            <a:ext cx="11430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4325112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" y="4379976"/>
            <a:ext cx="11173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📊 Tigerpaw Base — A Retention Story, Not a Bookings Story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02336" y="4636008"/>
            <a:ext cx="11173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~650 Tigerpaw clients not yet migrated. ~110 zombie accounts. ~540 real candidates, 80–100 confirmed intent. IMPORTANT: These are existing paying customers — migration is net retention + long-term price lift, NOT new bookings MRR. Protect the base; do not count toward 5× target.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PHASE 5 — QUICK WINS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$110K+ in Near-Term Bookings Pipeline Identified — Plus a Retention Priority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16128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$101,759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609344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Apollo 2 Re-Engagements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1115568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16128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98 Deals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27832" y="1609344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Fully Unlocked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0" y="1115568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61888" y="116128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$9,089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25312" y="1609344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Billing Pipeline Open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549640" y="1115568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59368" y="1161288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</a:rPr>
              <a:t>80–100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22792" y="1609344"/>
            <a:ext cx="2871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Tigerpaw Migration-Intent (Retention)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148840"/>
            <a:ext cx="365760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221992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27685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🚀 Quick Win #1: Apollo 2 Re-Engagements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336" y="2532888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98 feature-gap losses fully unlocked by April 2026 roadmap. Reach out in March — before ship — with: "The feature you needed ships next month. Want to see it early?" Work list top-down by MRR.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69080" y="2148840"/>
            <a:ext cx="365760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9080" y="2221992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97096" y="227685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💼 Quick Win #2: Billing Cross-Sell Pipeline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97096" y="2532888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11 open deals / $9,089 MRR. Existing customers — easiest closes in the system. 30% win rate vs 9.2% avg. Losh Network at Stage 5 and Vision CTS (CW renewal April '26) are the priority.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63840" y="2148840"/>
            <a:ext cx="370332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0" y="2221992"/>
            <a:ext cx="3703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91856" y="2276856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🛡️ Retention: Tigerpaw Migration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91856" y="2532888"/>
            <a:ext cx="3447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Existing customers — migration is NOT new MRR. Value = preventing churn + long-term price lift on PSA Web. Prioritize 80–100 hot-intent accounts. Also: NinjaOne 9 accounts / $6,900 MRR — integration ships Apollo 2.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336499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540"/>
                </a:solidFill>
              </a:rPr>
              <a:t>BILLING CROSS-SELL — OPEN DEALS (PRIORITY ORDER)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611880"/>
            <a:ext cx="11430000" cy="256032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6301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Account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0" y="36301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35040" y="36301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0" y="36301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MRR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44000" y="36301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867912"/>
            <a:ext cx="11430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89534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Losh Network Services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657600" y="389534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Connor Flynn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6035040" y="389534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Stage 5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7772400" y="389534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$1,004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9144000" y="38953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CLOSE THIS WEEK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4105656"/>
            <a:ext cx="11430000" cy="219456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1330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Clear Rate PSA III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657600" y="41330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Jamie Butler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6035040" y="41330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Stage 4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7772400" y="41330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$500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9144000" y="41330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</a:rPr>
              <a:t>Advance to close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343400"/>
            <a:ext cx="11430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370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Tricom Technology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3657600" y="4370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Connor Flynn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035040" y="4370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Stage 3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7772400" y="4370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$1,220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9144000" y="43708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C12"/>
                </a:solidFill>
              </a:rPr>
              <a:t>Accelerate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4581144"/>
            <a:ext cx="11430000" cy="219456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6085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VTX Telecom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3657600" y="46085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Joseph Abarno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6035040" y="46085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Stage 1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7772400" y="46085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$1,680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9144000" y="460857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A5C"/>
                </a:solidFill>
              </a:rPr>
              <a:t>Qualify fast (largest)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74320" y="4818888"/>
            <a:ext cx="114300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4846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Vision CTS PSA II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3657600" y="4846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Connor Flynn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035040" y="4846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Stage 1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7772400" y="4846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F63"/>
                </a:solidFill>
              </a:rPr>
              <a:t>$1,260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9144000" y="48463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63A"/>
                </a:solidFill>
              </a:rPr>
              <a:t>⚡ CW renewal Apr '26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PHASE 6 — 5× MATH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5× Requires Three Levers. None Alone Is Enough. Timeline: 12–18 Months.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16128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$9,526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60934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Current Mo. Avg (1.0×)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63240" y="111556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116128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63A"/>
                </a:solidFill>
              </a:rPr>
              <a:t>$47,630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36392" y="160934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5× Target / Month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0" y="111556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61888" y="116128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63A"/>
                </a:solidFill>
              </a:rPr>
              <a:t>$38,104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25312" y="160934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Monthly Gap to Close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41080" y="1115568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50808" y="1161288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9.2% → 15%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14232" y="1609344"/>
            <a:ext cx="2779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6B7F93"/>
                </a:solidFill>
              </a:rPr>
              <a:t>Win Rate Journey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212848"/>
            <a:ext cx="3749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286000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Scenario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Fix Execution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2633472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</a:rPr>
              <a:t>$17,000/mo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2336" y="303580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63A"/>
                </a:solidFill>
              </a:rPr>
              <a:t>1.8×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" y="3310128"/>
            <a:ext cx="34930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200 closures · 13% win rate · $650 avg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Show-rate program deployed, reps coached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06240" y="2212848"/>
            <a:ext cx="3749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34256" y="2286000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Scenario 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Execution + Near-Term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34256" y="2633472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</a:rPr>
              <a:t>$32,000/mo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34256" y="303580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63A"/>
                </a:solidFill>
              </a:rPr>
              <a:t>3.4×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34256" y="3310128"/>
            <a:ext cx="34930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250 closures · 14% win rate · $900 avg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Billing cross-sell + Apollo 2 re-engagements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Marketing rebalanced · Early IT MSP wins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38160" y="2212848"/>
            <a:ext cx="374904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2286000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Scenario C — TARGET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Full ICP Shift (5×)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66176" y="2633472"/>
            <a:ext cx="3493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</a:rPr>
              <a:t>$54,000/mo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66176" y="303580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5.7×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66176" y="3310128"/>
            <a:ext cx="34930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350–400 closures · 15% win rate · $950 avg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IT MSP ICP dominant · CW/Kaseya displacement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Full GTM motion mature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4352544"/>
            <a:ext cx="11430000" cy="87782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4517136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What Has to Be True for 5× (12–18 Month Roadmap)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" y="4828032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Q1 2026: Fix show rates · Close Billing pipeline · Apollo 2 re-engagements (March) · Audit paid media · SDR ICP qualification overhaul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5175504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Q2–Q3 2026: Apollo 2 ships (April) · IT MSP messaging built · CW/Kaseya displacement motion launched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" y="5522976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A"/>
                </a:solidFill>
              </a:rPr>
              <a:t>→  Q3–Q4 2026: IT MSP wins compound · Avg deal rises to $900–1,000 · Flywheel turns: each MSP win = 3–5 referrals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PHASE 7 — MARKETING &amp; SDR ATTRIBUTION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Inbound Converts 3–5× Better. SDRs Are Booking the Wrong Meetings.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540"/>
                </a:solidFill>
              </a:rPr>
              <a:t>WIN RATE BY MARKETING SOURCE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408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SEO 🏆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77440" y="1444752"/>
            <a:ext cx="320040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32.1%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Rev.io Summit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1792224"/>
            <a:ext cx="2976372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5445252" y="1755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30.0%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103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Website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77440" y="2139696"/>
            <a:ext cx="2112264" cy="2011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4581144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21.2%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2450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Tradeshow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77440" y="2487168"/>
            <a:ext cx="1184148" cy="201168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3028" y="2450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11.9%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27980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F63"/>
                </a:solidFill>
              </a:rPr>
              <a:t>Sales (self-sourced)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77440" y="2834640"/>
            <a:ext cx="608076" cy="201168"/>
          </a:xfrm>
          <a:prstGeom prst="rect">
            <a:avLst/>
          </a:prstGeom>
          <a:solidFill>
            <a:srgbClr val="E07B31"/>
          </a:solidFill>
          <a:ln/>
        </p:spPr>
      </p:sp>
      <p:sp>
        <p:nvSpPr>
          <p:cNvPr id="22" name="Text 20"/>
          <p:cNvSpPr/>
          <p:nvPr/>
        </p:nvSpPr>
        <p:spPr>
          <a:xfrm>
            <a:off x="3076956" y="27980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93"/>
                </a:solidFill>
              </a:rPr>
              <a:t>6.2%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3145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463A"/>
                </a:solidFill>
              </a:rPr>
              <a:t>Paid Media 🔴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77440" y="3182112"/>
            <a:ext cx="320040" cy="201168"/>
          </a:xfrm>
          <a:prstGeom prst="rect">
            <a:avLst/>
          </a:prstGeom>
          <a:solidFill>
            <a:srgbClr val="E8463A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31455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463A"/>
                </a:solidFill>
              </a:rPr>
              <a:t>3.3%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5669280" cy="73152"/>
          </a:xfrm>
          <a:prstGeom prst="rect">
            <a:avLst/>
          </a:prstGeom>
          <a:solidFill>
            <a:srgbClr val="E8463A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73075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785616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⚠️ Paid Media: 120 opps, 4 wins, $1,770 MRR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" y="4041648"/>
            <a:ext cx="5413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70% of pipeline is Sales (outbound) at 6.2% win rate. Inbound channels at 21–32%. Reallocate budget toward SEO/content. Audit paid media cost-per-win vs. inbound.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1115568"/>
            <a:ext cx="0" cy="393192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1155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2540"/>
                </a:solidFill>
              </a:rPr>
              <a:t>SDR PERFORMANCE (WIN RATE BY SDR INFLUENCE)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1371600"/>
            <a:ext cx="5349240" cy="23774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1389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SDR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326880" y="1389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149840" y="1389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Wins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835640" y="1389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Win Rate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1627632"/>
            <a:ext cx="5349240" cy="228600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165506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3A"/>
                </a:solidFill>
              </a:rPr>
              <a:t>No SDR ("None")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326880" y="16550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848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149840" y="16550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98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835640" y="1655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11.5%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09360" y="1874520"/>
            <a:ext cx="534924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19019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Drew Soupiset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326880" y="1901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149840" y="19019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835640" y="19019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93"/>
                </a:solidFill>
              </a:rPr>
              <a:t>16.7%*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09360" y="2121408"/>
            <a:ext cx="534924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214884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Jaylin Bender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326880" y="2148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50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149840" y="21488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835640" y="21488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6.0%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309360" y="2368296"/>
            <a:ext cx="534924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0" y="23957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Davis Herndon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326880" y="23957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65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149840" y="23957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835640" y="23957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6.2%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09360" y="2615184"/>
            <a:ext cx="534924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264261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Nand Patel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326880" y="264261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20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149840" y="26426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835640" y="2642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5.0%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309360" y="2862072"/>
            <a:ext cx="5349240" cy="228600"/>
          </a:xfrm>
          <a:prstGeom prst="rect">
            <a:avLst/>
          </a:prstGeom>
          <a:solidFill>
            <a:srgbClr val="FDF3E7"/>
          </a:solidFill>
          <a:ln/>
        </p:spPr>
      </p:sp>
      <p:sp>
        <p:nvSpPr>
          <p:cNvPr id="63" name="Text 61"/>
          <p:cNvSpPr/>
          <p:nvPr/>
        </p:nvSpPr>
        <p:spPr>
          <a:xfrm>
            <a:off x="6400800" y="28895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Abbey McIntosh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326880" y="288950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107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149840" y="288950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4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0835640" y="2889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B31"/>
                </a:solidFill>
              </a:rPr>
              <a:t>3.7%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309360" y="3108960"/>
            <a:ext cx="5349240" cy="228600"/>
          </a:xfrm>
          <a:prstGeom prst="rect">
            <a:avLst/>
          </a:prstGeom>
          <a:solidFill>
            <a:srgbClr val="FDF3E7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0" y="313639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Mitchell Davidson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326880" y="31363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60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0149840" y="3136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0835640" y="31363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B31"/>
                </a:solidFill>
              </a:rPr>
              <a:t>3.3%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309360" y="3355848"/>
            <a:ext cx="5349240" cy="228600"/>
          </a:xfrm>
          <a:prstGeom prst="rect">
            <a:avLst/>
          </a:prstGeom>
          <a:solidFill>
            <a:srgbClr val="FDE8E7"/>
          </a:solidFill>
          <a:ln/>
        </p:spPr>
      </p:sp>
      <p:sp>
        <p:nvSpPr>
          <p:cNvPr id="73" name="Text 71"/>
          <p:cNvSpPr/>
          <p:nvPr/>
        </p:nvSpPr>
        <p:spPr>
          <a:xfrm>
            <a:off x="6400800" y="33832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Prosper Firi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326880" y="3383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41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149840" y="33832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0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0835640" y="33832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63A"/>
                </a:solidFill>
              </a:rPr>
              <a:t>0% 🔴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309360" y="3602736"/>
            <a:ext cx="5349240" cy="228600"/>
          </a:xfrm>
          <a:prstGeom prst="rect">
            <a:avLst/>
          </a:prstGeom>
          <a:solidFill>
            <a:srgbClr val="FDE8E7"/>
          </a:solidFill>
          <a:ln/>
        </p:spPr>
      </p:sp>
      <p:sp>
        <p:nvSpPr>
          <p:cNvPr id="78" name="Text 76"/>
          <p:cNvSpPr/>
          <p:nvPr/>
        </p:nvSpPr>
        <p:spPr>
          <a:xfrm>
            <a:off x="6400800" y="363016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Abigail Marchese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326880" y="36301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25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0149840" y="3630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0835640" y="36301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63A"/>
                </a:solidFill>
              </a:rPr>
              <a:t>0% 🔴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309360" y="3849624"/>
            <a:ext cx="5349240" cy="228600"/>
          </a:xfrm>
          <a:prstGeom prst="rect">
            <a:avLst/>
          </a:prstGeom>
          <a:solidFill>
            <a:srgbClr val="FDE8E7"/>
          </a:solidFill>
          <a:ln/>
        </p:spPr>
      </p:sp>
      <p:sp>
        <p:nvSpPr>
          <p:cNvPr id="83" name="Text 81"/>
          <p:cNvSpPr/>
          <p:nvPr/>
        </p:nvSpPr>
        <p:spPr>
          <a:xfrm>
            <a:off x="6400800" y="387705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Emily Petraglia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326880" y="38770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12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0149840" y="387705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0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0835640" y="387705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63A"/>
                </a:solidFill>
              </a:rPr>
              <a:t>0% 🔴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309360" y="4096512"/>
            <a:ext cx="5349240" cy="228600"/>
          </a:xfrm>
          <a:prstGeom prst="rect">
            <a:avLst/>
          </a:prstGeom>
          <a:solidFill>
            <a:srgbClr val="FDE8E7"/>
          </a:solidFill>
          <a:ln/>
        </p:spPr>
      </p:sp>
      <p:sp>
        <p:nvSpPr>
          <p:cNvPr id="88" name="Text 86"/>
          <p:cNvSpPr/>
          <p:nvPr/>
        </p:nvSpPr>
        <p:spPr>
          <a:xfrm>
            <a:off x="6400800" y="412394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Jailyn Johnson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9326880" y="41239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8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0149840" y="412394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F63"/>
                </a:solidFill>
              </a:rPr>
              <a:t>0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0835640" y="41239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63A"/>
                </a:solidFill>
              </a:rPr>
              <a:t>0%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309360" y="4389120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F93"/>
                </a:solidFill>
              </a:rPr>
              <a:t>* Small sample. SDRs with dual AE roles may reflect cross-team data.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63A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</a:rPr>
              <a:t>10 Actions, Prioritized by Speed-to-Impact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704320" cy="0"/>
          </a:xfrm>
          <a:prstGeom prst="line">
            <a:avLst/>
          </a:prstGeom>
          <a:noFill/>
          <a:ln w="12700">
            <a:solidFill>
              <a:srgbClr val="DDE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61872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11612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Interview Dahlstrom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" y="13533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2.6% no-show vs. 35% team avg. Extract his confirmation/qualification playbook. Deploy team-wide in 30 days.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76656" y="1554480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Sales Mgmt — This Week  |  +$3–5K/mo immediately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1783080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83080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929384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18288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Work Billing Pipeline with Mgmt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" y="20208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Losh Network (Stage 5) + Vision CTS (CW renewal April). 30% close rate = 3–4 closes from 11 deals.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6656" y="2221992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Ryan Koontz — This Week  |  ~$3K MRR fast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2450592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50592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596896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24963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Launch Apollo 2 Re-Engagement (March)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" y="26883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"The feature you needed ships next month." 98 unlocked deals / $101,759 MRR. Work top-down by value.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6656" y="2889504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Sales + Marketing — March  |  $10–25K MRR / 90 days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3118104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118104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26440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" y="31638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Tigerpaw Migration — Retention Priority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" y="33558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80–100 migration-intent accounts. Existing customers = retention play, NOT new MRR. Protect the base; value = churn prevention + long-term ARPU lift.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6656" y="3557016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Evan + Ryan — Q1–Q2  |  Churn prevention + ARPU lift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" y="3785616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785616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93192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" y="38313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Coach Davies: Pipeline Leaking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" y="40233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$11,630 open pipeline, 6.3% win rate. Manager-assisted deal reviews. If at median: +$5K MRR.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6656" y="4224528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Sales Mgmt — Immediate  |  +$3–5K MRR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172200" y="1115568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1115568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1261872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74536" y="11612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Audit Paid Media — Likely Negative ROI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74536" y="13533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3.3% win rate on 120 opps = $1,770 MRR. At any real CPL, this is negative ROI. Pull spend, compute cost-per-win, reallocate to SEO/content.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574536" y="1554480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Jennifer Hopkins — Q1  |  Budget reallocation to 32% channels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172200" y="1783080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1783080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1929384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74536" y="18288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Overhaul SDR Lead Quality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74536" y="20208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SDR opps close at ~5% vs 11.5% for no-SDR. 4 SDRs have zero wins combined. Implement ICP scoring before booking. Quality &gt; volume.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574536" y="2221992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Sales Mgmt — Q1  |  Win rate lift from SDR pipeline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172200" y="2450592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2450592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51" name="Text 49"/>
          <p:cNvSpPr/>
          <p:nvPr/>
        </p:nvSpPr>
        <p:spPr>
          <a:xfrm>
            <a:off x="6172200" y="2596896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74536" y="24963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Build IT MSP Displacement Motion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74536" y="26883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CW/Kaseya/Halo targets. Currently 0 competitive wins. Needs battlecards, reference cases, targeted outreach.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574536" y="2889504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Marketing + Sales — Q2–Q3  |  3–5× at scale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172200" y="3118104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3118104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57" name="Text 55"/>
          <p:cNvSpPr/>
          <p:nvPr/>
        </p:nvSpPr>
        <p:spPr>
          <a:xfrm>
            <a:off x="6172200" y="326440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74536" y="31638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Study Herndon's Buyer Profile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74536" y="33558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$1,153 avg deal (2× team). What industries/sizes/personas? This is the high-value ICP template for the future.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574536" y="3557016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Sales Ops / Revay — Q1  |  Strategic ICP shift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172200" y="3785616"/>
            <a:ext cx="5669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3785616"/>
            <a:ext cx="329184" cy="603504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3" name="Text 61"/>
          <p:cNvSpPr/>
          <p:nvPr/>
        </p:nvSpPr>
        <p:spPr>
          <a:xfrm>
            <a:off x="6172200" y="393192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574536" y="38313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Diagnose November Collapse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74536" y="40233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F63"/>
                </a:solidFill>
              </a:rPr>
              <a:t>Same volume as September, half the win rate. What changed? Answers prevent January from becoming the new normal.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574536" y="4224528"/>
            <a:ext cx="5212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Sales Ops — Q1  |  Prevents further deceleration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Rev.io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Rev.io PSA Web — GTM Performance Analysis</dc:title>
  <dc:subject>PSA Web GTM Performance Analysis</dc:subject>
  <dc:creator>Revay AI</dc:creator>
  <cp:lastModifiedBy>Revay AI</cp:lastModifiedBy>
  <cp:revision>1</cp:revision>
  <dcterms:created xsi:type="dcterms:W3CDTF">2026-02-24T18:06:05Z</dcterms:created>
  <dcterms:modified xsi:type="dcterms:W3CDTF">2026-02-24T18:06:05Z</dcterms:modified>
</cp:coreProperties>
</file>