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Rev.io · GTM Intelligence · February 2026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155448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PSA Web &amp; Cyber Protect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Bookings Performance Analysis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65760" y="310896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data-driven audit of win rates, funnel health, rep performance,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segments, and the path to 5× MRR — pulled live from Salesforce.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023360"/>
            <a:ext cx="1920240" cy="685800"/>
          </a:xfrm>
          <a:prstGeom prst="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404164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13,953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65760" y="437083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Opportunities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60320" y="4023360"/>
            <a:ext cx="1920240" cy="685800"/>
          </a:xfrm>
          <a:prstGeom prst="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2560320" y="404164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1,252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560320" y="437083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PSA Web Deals Analyzed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754880" y="4023360"/>
            <a:ext cx="1920240" cy="685800"/>
          </a:xfrm>
          <a:prstGeom prst="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404164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9.2%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437083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Win Rate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949440" y="4023360"/>
            <a:ext cx="1920240" cy="685800"/>
          </a:xfrm>
          <a:prstGeom prst="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0" y="404164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$9,500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949440" y="437083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MRR / Month Run Rate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" y="62179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Root Causes. Three Levers.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170432"/>
            <a:ext cx="2606040" cy="3108960"/>
          </a:xfrm>
          <a:prstGeom prst="rect">
            <a:avLst>
              <a:gd name="adj" fmla="val 3509"/>
            </a:avLst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234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" y="164592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34.8%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No-Shows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560320"/>
            <a:ext cx="235915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396 deals lost before discovery. Dahlstrom shows 2.6% no-show rate vs team avg 35%+. Fixing show rate is the single biggest lever.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08960" y="1170432"/>
            <a:ext cx="2606040" cy="3108960"/>
          </a:xfrm>
          <a:prstGeom prst="rect">
            <a:avLst>
              <a:gd name="adj" fmla="val 3509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234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46120" y="164592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3.9×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4612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 Spread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46120" y="2560320"/>
            <a:ext cx="235915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Abarno closes at 20.9%. Bottom three at 5–6.9%. Closing that gap adds 40%+ wins from identical pipeline.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43600" y="1170432"/>
            <a:ext cx="2606040" cy="3108960"/>
          </a:xfrm>
          <a:prstGeom prst="rect">
            <a:avLst>
              <a:gd name="adj" fmla="val 3509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1234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080760" y="164592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~30%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8076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Cross-Sell Win Rate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80760" y="2560320"/>
            <a:ext cx="235915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78% of wins are net new logos. Billing clients convert at ~30% (3× the avg) at $844 MRR. Biggest untapped premium motion.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4407408"/>
            <a:ext cx="8321040" cy="502920"/>
          </a:xfrm>
          <a:prstGeom prst="rect">
            <a:avLst>
              <a:gd name="adj" fmla="val 10909"/>
            </a:avLst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 Only 1.6% of losses are competitive — this is not a product problem. Rev.io wins 98.4% of deals it competes to close. Fix the execution and the wins follow.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· Baseline — PSA Web Since Launch (Jun 29, 2025)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" y="621792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Months of Live Data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1920240" cy="10058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9728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1188720"/>
            <a:ext cx="17007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MRR BOOKED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65760" y="1353312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$75,940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1792224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wins since launch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31720" y="1097280"/>
            <a:ext cx="1920240" cy="10058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31720" y="1097280"/>
            <a:ext cx="19202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2441448" y="1188720"/>
            <a:ext cx="17007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RUN RATE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423160" y="1353312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~$9,500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423160" y="1792224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Jul–Jan 7-month avg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89120" y="1097280"/>
            <a:ext cx="1920240" cy="10058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1097280"/>
            <a:ext cx="19202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7" name="Text 15"/>
          <p:cNvSpPr/>
          <p:nvPr/>
        </p:nvSpPr>
        <p:spPr>
          <a:xfrm>
            <a:off x="4498848" y="1188720"/>
            <a:ext cx="17007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 RATE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480560" y="1353312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9.2%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480560" y="1792224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115 of 1,252 closed deals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446520" y="1097280"/>
            <a:ext cx="2057400" cy="1005840"/>
          </a:xfrm>
          <a:prstGeom prst="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46520" y="1097280"/>
            <a:ext cx="20574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6556248" y="1188720"/>
            <a:ext cx="1837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MONTH (OCT)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6537960" y="1353312"/>
            <a:ext cx="1874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$15,470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537960" y="1792224"/>
            <a:ext cx="1874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wins — proof of ceiling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4320" y="4039985"/>
            <a:ext cx="851408" cy="166255"/>
          </a:xfrm>
          <a:prstGeom prst="rect">
            <a:avLst>
              <a:gd name="adj" fmla="val 22000"/>
            </a:avLst>
          </a:prstGeom>
          <a:solidFill>
            <a:srgbClr val="94A3B8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" y="3838817"/>
            <a:ext cx="851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4251960"/>
            <a:ext cx="85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198880" y="2959331"/>
            <a:ext cx="851408" cy="1246909"/>
          </a:xfrm>
          <a:prstGeom prst="rect">
            <a:avLst>
              <a:gd name="adj" fmla="val 4296"/>
            </a:avLst>
          </a:prstGeom>
          <a:solidFill>
            <a:srgbClr val="6366F1"/>
          </a:solidFill>
          <a:ln/>
        </p:spPr>
      </p:sp>
      <p:sp>
        <p:nvSpPr>
          <p:cNvPr id="29" name="Text 27"/>
          <p:cNvSpPr/>
          <p:nvPr/>
        </p:nvSpPr>
        <p:spPr>
          <a:xfrm>
            <a:off x="1198880" y="2758163"/>
            <a:ext cx="851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98880" y="4251960"/>
            <a:ext cx="85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123440" y="3125585"/>
            <a:ext cx="851408" cy="1080655"/>
          </a:xfrm>
          <a:prstGeom prst="rect">
            <a:avLst>
              <a:gd name="adj" fmla="val 4296"/>
            </a:avLst>
          </a:prstGeom>
          <a:solidFill>
            <a:srgbClr val="6366F1"/>
          </a:solidFill>
          <a:ln/>
        </p:spPr>
      </p:sp>
      <p:sp>
        <p:nvSpPr>
          <p:cNvPr id="32" name="Text 30"/>
          <p:cNvSpPr/>
          <p:nvPr/>
        </p:nvSpPr>
        <p:spPr>
          <a:xfrm>
            <a:off x="2123440" y="2924417"/>
            <a:ext cx="851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123440" y="4251960"/>
            <a:ext cx="85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048000" y="2709949"/>
            <a:ext cx="851408" cy="1496291"/>
          </a:xfrm>
          <a:prstGeom prst="rect">
            <a:avLst>
              <a:gd name="adj" fmla="val 4296"/>
            </a:avLst>
          </a:prstGeom>
          <a:solidFill>
            <a:srgbClr val="6366F1"/>
          </a:solidFill>
          <a:ln/>
        </p:spPr>
      </p:sp>
      <p:sp>
        <p:nvSpPr>
          <p:cNvPr id="35" name="Text 33"/>
          <p:cNvSpPr/>
          <p:nvPr/>
        </p:nvSpPr>
        <p:spPr>
          <a:xfrm>
            <a:off x="3048000" y="2508781"/>
            <a:ext cx="851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048000" y="4251960"/>
            <a:ext cx="85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972560" y="2377440"/>
            <a:ext cx="851408" cy="1828800"/>
          </a:xfrm>
          <a:prstGeom prst="rect">
            <a:avLst>
              <a:gd name="adj" fmla="val 4296"/>
            </a:avLst>
          </a:prstGeom>
          <a:solidFill>
            <a:srgbClr val="10B981"/>
          </a:solidFill>
          <a:ln/>
        </p:spPr>
      </p:sp>
      <p:sp>
        <p:nvSpPr>
          <p:cNvPr id="38" name="Text 36"/>
          <p:cNvSpPr/>
          <p:nvPr/>
        </p:nvSpPr>
        <p:spPr>
          <a:xfrm>
            <a:off x="3972560" y="2176272"/>
            <a:ext cx="851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972560" y="4251960"/>
            <a:ext cx="85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🏆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897120" y="3458095"/>
            <a:ext cx="851408" cy="748145"/>
          </a:xfrm>
          <a:prstGeom prst="rect">
            <a:avLst>
              <a:gd name="adj" fmla="val 4889"/>
            </a:avLst>
          </a:prstGeom>
          <a:solidFill>
            <a:srgbClr val="EF4444"/>
          </a:solidFill>
          <a:ln/>
        </p:spPr>
      </p:sp>
      <p:sp>
        <p:nvSpPr>
          <p:cNvPr id="41" name="Text 39"/>
          <p:cNvSpPr/>
          <p:nvPr/>
        </p:nvSpPr>
        <p:spPr>
          <a:xfrm>
            <a:off x="4897120" y="3256927"/>
            <a:ext cx="851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97120" y="4251960"/>
            <a:ext cx="85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Nov ⚠️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821680" y="2959331"/>
            <a:ext cx="851408" cy="1246909"/>
          </a:xfrm>
          <a:prstGeom prst="rect">
            <a:avLst>
              <a:gd name="adj" fmla="val 4296"/>
            </a:avLst>
          </a:prstGeom>
          <a:solidFill>
            <a:srgbClr val="6366F1"/>
          </a:solidFill>
          <a:ln/>
        </p:spPr>
      </p:sp>
      <p:sp>
        <p:nvSpPr>
          <p:cNvPr id="44" name="Text 42"/>
          <p:cNvSpPr/>
          <p:nvPr/>
        </p:nvSpPr>
        <p:spPr>
          <a:xfrm>
            <a:off x="5821680" y="2758163"/>
            <a:ext cx="851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821680" y="4251960"/>
            <a:ext cx="85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746240" y="3374967"/>
            <a:ext cx="851408" cy="831273"/>
          </a:xfrm>
          <a:prstGeom prst="rect">
            <a:avLst>
              <a:gd name="adj" fmla="val 4400"/>
            </a:avLst>
          </a:prstGeom>
          <a:solidFill>
            <a:srgbClr val="F59E0B"/>
          </a:solidFill>
          <a:ln/>
        </p:spPr>
      </p:sp>
      <p:sp>
        <p:nvSpPr>
          <p:cNvPr id="47" name="Text 45"/>
          <p:cNvSpPr/>
          <p:nvPr/>
        </p:nvSpPr>
        <p:spPr>
          <a:xfrm>
            <a:off x="6746240" y="3173799"/>
            <a:ext cx="851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746240" y="4251960"/>
            <a:ext cx="85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670800" y="3291840"/>
            <a:ext cx="851408" cy="914400"/>
          </a:xfrm>
          <a:prstGeom prst="rect">
            <a:avLst>
              <a:gd name="adj" fmla="val 4296"/>
            </a:avLst>
          </a:prstGeom>
          <a:solidFill>
            <a:srgbClr val="F59E0B"/>
          </a:solidFill>
          <a:ln/>
        </p:spPr>
      </p:sp>
      <p:sp>
        <p:nvSpPr>
          <p:cNvPr id="50" name="Text 48"/>
          <p:cNvSpPr/>
          <p:nvPr/>
        </p:nvSpPr>
        <p:spPr>
          <a:xfrm>
            <a:off x="7670800" y="3090672"/>
            <a:ext cx="851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70800" y="4251960"/>
            <a:ext cx="85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Feb*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74320" y="464515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 Feb 2026 is a partial month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· Funnel Autopsy — Win Rate by Month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" y="62179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win rate swings 2.6× — volume is never the constraint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" y="109728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 '25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554480" y="1124712"/>
            <a:ext cx="6406816" cy="301752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7" name="Shape 5"/>
          <p:cNvSpPr/>
          <p:nvPr/>
        </p:nvSpPr>
        <p:spPr>
          <a:xfrm>
            <a:off x="7961296" y="1124712"/>
            <a:ext cx="451184" cy="3017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8485632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6.6%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" y="153619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 '25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554480" y="1563624"/>
            <a:ext cx="6441393" cy="301752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1" name="Shape 9"/>
          <p:cNvSpPr/>
          <p:nvPr/>
        </p:nvSpPr>
        <p:spPr>
          <a:xfrm>
            <a:off x="7995873" y="1563624"/>
            <a:ext cx="416607" cy="3017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8485632" y="15361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6.1%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" y="1975104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 '25 🏆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554480" y="2002536"/>
            <a:ext cx="6018245" cy="301752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5" name="Shape 13"/>
          <p:cNvSpPr/>
          <p:nvPr/>
        </p:nvSpPr>
        <p:spPr>
          <a:xfrm>
            <a:off x="7572725" y="2002536"/>
            <a:ext cx="839755" cy="3017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8485632" y="197510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12.2%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" y="2414016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'25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554480" y="2441448"/>
            <a:ext cx="6165908" cy="301752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9" name="Shape 17"/>
          <p:cNvSpPr/>
          <p:nvPr/>
        </p:nvSpPr>
        <p:spPr>
          <a:xfrm>
            <a:off x="7720388" y="2441448"/>
            <a:ext cx="692092" cy="3017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8485632" y="241401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10.1%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28600" y="285292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Nov '25 ⚠️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554480" y="2880360"/>
            <a:ext cx="6438122" cy="301752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3" name="Shape 21"/>
          <p:cNvSpPr/>
          <p:nvPr/>
        </p:nvSpPr>
        <p:spPr>
          <a:xfrm>
            <a:off x="7992602" y="2880360"/>
            <a:ext cx="419878" cy="3017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8485632" y="285292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6.1%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" y="32918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 '25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554480" y="3319272"/>
            <a:ext cx="6263376" cy="301752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7" name="Shape 25"/>
          <p:cNvSpPr/>
          <p:nvPr/>
        </p:nvSpPr>
        <p:spPr>
          <a:xfrm>
            <a:off x="7817856" y="3319272"/>
            <a:ext cx="594624" cy="3017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8485632" y="32918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8.7%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28600" y="37307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 '26 🚨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554480" y="3758184"/>
            <a:ext cx="6537533" cy="301752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1" name="Shape 29"/>
          <p:cNvSpPr/>
          <p:nvPr/>
        </p:nvSpPr>
        <p:spPr>
          <a:xfrm>
            <a:off x="8092013" y="3758184"/>
            <a:ext cx="320467" cy="3017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8485632" y="373075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4.7%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28600" y="4169664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 '26*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554480" y="4197096"/>
            <a:ext cx="6319157" cy="301752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5" name="Shape 33"/>
          <p:cNvSpPr/>
          <p:nvPr/>
        </p:nvSpPr>
        <p:spPr>
          <a:xfrm>
            <a:off x="7873637" y="4197096"/>
            <a:ext cx="538843" cy="3017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6" name="Text 34"/>
          <p:cNvSpPr/>
          <p:nvPr/>
        </p:nvSpPr>
        <p:spPr>
          <a:xfrm>
            <a:off x="8485632" y="416966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7.9%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28600" y="4663440"/>
            <a:ext cx="8321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 2025 (12.2%) and Jan 2026 (4.7%) had similar close volumes — a 2.6× win rate gap on identical activity. The machine is inconsistent. Understanding what drove September is as important as diagnosing January.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· Loss Reasons — 1,137 Closed-Lost PSA Web Deals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" y="62179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 of losses are execution failures — not product, not competition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" y="114300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 No-Show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560320" y="1179576"/>
            <a:ext cx="5943600" cy="274320"/>
          </a:xfrm>
          <a:prstGeom prst="rect">
            <a:avLst>
              <a:gd name="adj" fmla="val 13333"/>
            </a:avLst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0" y="114300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396 deals · 34.8%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28600" y="163677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Right Time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1673352"/>
            <a:ext cx="2937641" cy="274320"/>
          </a:xfrm>
          <a:prstGeom prst="rect">
            <a:avLst>
              <a:gd name="adj" fmla="val 13333"/>
            </a:avLst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5589401" y="163677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195 deals · 17.2%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8600" y="21305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 Features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2167128"/>
            <a:ext cx="2527738" cy="274320"/>
          </a:xfrm>
          <a:prstGeom prst="rect">
            <a:avLst>
              <a:gd name="adj" fmla="val 13333"/>
            </a:avLst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5179498" y="21305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168 deals · 14.8%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8600" y="262432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Decision / Non-Responsive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60320" y="2660904"/>
            <a:ext cx="1793328" cy="274320"/>
          </a:xfrm>
          <a:prstGeom prst="rect">
            <a:avLst>
              <a:gd name="adj" fmla="val 13333"/>
            </a:avLst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4445088" y="262432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119 deals · 10.5%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8600" y="311810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560320" y="3154680"/>
            <a:ext cx="1195552" cy="274320"/>
          </a:xfrm>
          <a:prstGeom prst="rect">
            <a:avLst>
              <a:gd name="adj" fmla="val 13333"/>
            </a:avLst>
          </a:prstGeom>
          <a:solidFill>
            <a:srgbClr val="6366F1"/>
          </a:solidFill>
          <a:ln/>
        </p:spPr>
      </p:sp>
      <p:sp>
        <p:nvSpPr>
          <p:cNvPr id="19" name="Text 17"/>
          <p:cNvSpPr/>
          <p:nvPr/>
        </p:nvSpPr>
        <p:spPr>
          <a:xfrm>
            <a:off x="3847312" y="311810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 deals · 7%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8600" y="361188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Business Issue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60320" y="3648456"/>
            <a:ext cx="853966" cy="274320"/>
          </a:xfrm>
          <a:prstGeom prst="rect">
            <a:avLst>
              <a:gd name="adj" fmla="val 13333"/>
            </a:avLst>
          </a:prstGeom>
          <a:solidFill>
            <a:srgbClr val="64748B"/>
          </a:solidFill>
          <a:ln/>
        </p:spPr>
      </p:sp>
      <p:sp>
        <p:nvSpPr>
          <p:cNvPr id="22" name="Text 20"/>
          <p:cNvSpPr/>
          <p:nvPr/>
        </p:nvSpPr>
        <p:spPr>
          <a:xfrm>
            <a:off x="3505726" y="361188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57 deals · 5%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28600" y="410565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 to Competitor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60320" y="4142232"/>
            <a:ext cx="273269" cy="274320"/>
          </a:xfrm>
          <a:prstGeom prst="rect">
            <a:avLst>
              <a:gd name="adj" fmla="val 13385"/>
            </a:avLst>
          </a:prstGeom>
          <a:solidFill>
            <a:srgbClr val="3B82F6"/>
          </a:solidFill>
          <a:ln/>
        </p:spPr>
      </p:sp>
      <p:sp>
        <p:nvSpPr>
          <p:cNvPr id="25" name="Text 23"/>
          <p:cNvSpPr/>
          <p:nvPr/>
        </p:nvSpPr>
        <p:spPr>
          <a:xfrm>
            <a:off x="2925029" y="410565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deals · 1.6%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28600" y="4663440"/>
            <a:ext cx="8321040" cy="292608"/>
          </a:xfrm>
          <a:prstGeom prst="rect">
            <a:avLst>
              <a:gd name="adj" fmla="val 15625"/>
            </a:avLst>
          </a:prstGeom>
          <a:solidFill>
            <a:srgbClr val="F0FDF4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4700016"/>
            <a:ext cx="8046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 Only 1.6% lost to competitors (18 deals). This is not a competitive problem. Rev.io wins when it competes. The battle is being lost before it starts.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3 · Rep Benchmarking — Full Scorecard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" y="62179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3.9× spread from top to bottom rep on identical pipeline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" y="107899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920240" y="107899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 Rate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788920" y="107899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383280" y="10789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MRR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60520" y="1078992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 Cycle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983480" y="1078992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No-Show Rate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80760" y="107899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Note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8600" y="1335024"/>
            <a:ext cx="8321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2880" y="1344168"/>
            <a:ext cx="8412480" cy="356616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4" name="Text 12"/>
          <p:cNvSpPr/>
          <p:nvPr/>
        </p:nvSpPr>
        <p:spPr>
          <a:xfrm>
            <a:off x="228600" y="137160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Joseph Abarno 🥇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920240" y="137160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20.9%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788920" y="13716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83280" y="13716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$576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160520" y="1371600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83480" y="1371600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080760" y="137160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Leader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600" y="17465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Andy Whisenant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920240" y="1746504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788920" y="1746504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174650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$821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60520" y="174650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983480" y="1746504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80760" y="174650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28600" y="212140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Patrick Dahlstrom ✨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920240" y="2121408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10.5%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88920" y="2121408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383280" y="212140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160520" y="2121408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83480" y="2121408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2.6%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80760" y="212140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Rate King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8600" y="249631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Jake Borah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920240" y="249631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10.4%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88920" y="249631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383280" y="2496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$741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160520" y="2496312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13d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983480" y="2496312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080760" y="249631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28600" y="2871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Jake Mitchell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920240" y="2871216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10.3%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788920" y="2871216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383280" y="287121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$554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60520" y="2871216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15d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983480" y="2871216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32%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80760" y="287121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28600" y="32461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Davis Herndon 💎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920240" y="32461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7.5%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2788920" y="324612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383280" y="324612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$1,153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160520" y="3246120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28d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983480" y="3246120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32%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080760" y="324612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Premium ICP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228600" y="362102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Connor Flynn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920240" y="3621024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6.9%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2788920" y="3621024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3383280" y="362102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$569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60520" y="362102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7d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983480" y="3621024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16%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080760" y="362102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ICP issue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82880" y="3968496"/>
            <a:ext cx="8412480" cy="356616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64" name="Text 62"/>
          <p:cNvSpPr/>
          <p:nvPr/>
        </p:nvSpPr>
        <p:spPr>
          <a:xfrm>
            <a:off x="228600" y="39959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Patrick Davies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920240" y="3995928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6.3%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2788920" y="3995928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3383280" y="399592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$567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4160520" y="3995928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14d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4983480" y="3995928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37%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080760" y="399592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+ Features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182880" y="4343400"/>
            <a:ext cx="8412480" cy="356616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72" name="Text 70"/>
          <p:cNvSpPr/>
          <p:nvPr/>
        </p:nvSpPr>
        <p:spPr>
          <a:xfrm>
            <a:off x="228600" y="437083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Husam Zalmiyar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1920240" y="437083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5.3%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2788920" y="43708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3383280" y="437083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$654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4160520" y="4370832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8d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4983480" y="4370832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080760" y="437083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Dual failure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3 · The No-Show Problem — Dahlstrom is the Benchmark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" y="62179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2.6% vs 35%+ — the gap is a team playbook, not individual talent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" y="10972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Patrick Dahlstrom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94560" y="1133856"/>
            <a:ext cx="351213" cy="201168"/>
          </a:xfrm>
          <a:prstGeom prst="rect">
            <a:avLst>
              <a:gd name="adj" fmla="val 13636"/>
            </a:avLst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2618925" y="10972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2.6% (1 of 38)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141732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Jamie Butler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94560" y="1453896"/>
            <a:ext cx="1688523" cy="201168"/>
          </a:xfrm>
          <a:prstGeom prst="rect">
            <a:avLst>
              <a:gd name="adj" fmla="val 13636"/>
            </a:avLst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3956235" y="1417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12.5% (5 of 40)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28600" y="17373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Connor Flynn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194560" y="1773936"/>
            <a:ext cx="2188325" cy="201168"/>
          </a:xfrm>
          <a:prstGeom prst="rect">
            <a:avLst>
              <a:gd name="adj" fmla="val 13636"/>
            </a:avLst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4456037" y="1737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16.2% (21 of 130)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28600" y="20574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Reese Middleton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194560" y="2093976"/>
            <a:ext cx="3633701" cy="201168"/>
          </a:xfrm>
          <a:prstGeom prst="rect">
            <a:avLst>
              <a:gd name="adj" fmla="val 13636"/>
            </a:avLst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5901413" y="2057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26.9% (21 of 78)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28600" y="23774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Matt Salin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94560" y="2414016"/>
            <a:ext cx="3998422" cy="201168"/>
          </a:xfrm>
          <a:prstGeom prst="rect">
            <a:avLst>
              <a:gd name="adj" fmla="val 13636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6266134" y="2377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29.6% (24 of 81)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28600" y="26974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Davis Herndon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194560" y="2734056"/>
            <a:ext cx="4336126" cy="201168"/>
          </a:xfrm>
          <a:prstGeom prst="rect">
            <a:avLst>
              <a:gd name="adj" fmla="val 13636"/>
            </a:avLst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603838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32.1% (17 of 53)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28600" y="301752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Jake Mitchell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194560" y="3054096"/>
            <a:ext cx="4336126" cy="201168"/>
          </a:xfrm>
          <a:prstGeom prst="rect">
            <a:avLst>
              <a:gd name="adj" fmla="val 13636"/>
            </a:avLst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6603838" y="3017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32.1% (50 of 156)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28600" y="33375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Joseph Abarno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194560" y="3374136"/>
            <a:ext cx="4903470" cy="201168"/>
          </a:xfrm>
          <a:prstGeom prst="rect">
            <a:avLst>
              <a:gd name="adj" fmla="val 13636"/>
            </a:avLst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7171182" y="3337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36.3% (33 of 91)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28600" y="36576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Jaylin Bender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194560" y="3694176"/>
            <a:ext cx="4849437" cy="201168"/>
          </a:xfrm>
          <a:prstGeom prst="rect">
            <a:avLst>
              <a:gd name="adj" fmla="val 13636"/>
            </a:avLst>
          </a:prstGeom>
          <a:solidFill>
            <a:srgbClr val="F59E0B"/>
          </a:solidFill>
          <a:ln/>
        </p:spPr>
      </p:sp>
      <p:sp>
        <p:nvSpPr>
          <p:cNvPr id="31" name="Text 29"/>
          <p:cNvSpPr/>
          <p:nvPr/>
        </p:nvSpPr>
        <p:spPr>
          <a:xfrm>
            <a:off x="7117149" y="3657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35.9% (33 of 92)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28600" y="39776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Andy Whisenant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194560" y="4014216"/>
            <a:ext cx="4822421" cy="201168"/>
          </a:xfrm>
          <a:prstGeom prst="rect">
            <a:avLst>
              <a:gd name="adj" fmla="val 13636"/>
            </a:avLst>
          </a:prstGeom>
          <a:solidFill>
            <a:srgbClr val="F59E0B"/>
          </a:solidFill>
          <a:ln/>
        </p:spPr>
      </p:sp>
      <p:sp>
        <p:nvSpPr>
          <p:cNvPr id="34" name="Text 32"/>
          <p:cNvSpPr/>
          <p:nvPr/>
        </p:nvSpPr>
        <p:spPr>
          <a:xfrm>
            <a:off x="7090133" y="39776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35.7% (30 of 84)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28600" y="42976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Patrick Davies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194560" y="4334256"/>
            <a:ext cx="4957503" cy="201168"/>
          </a:xfrm>
          <a:prstGeom prst="rect">
            <a:avLst>
              <a:gd name="adj" fmla="val 13636"/>
            </a:avLst>
          </a:prstGeom>
          <a:solidFill>
            <a:srgbClr val="F59E0B"/>
          </a:solidFill>
          <a:ln/>
        </p:spPr>
      </p:sp>
      <p:sp>
        <p:nvSpPr>
          <p:cNvPr id="37" name="Text 35"/>
          <p:cNvSpPr/>
          <p:nvPr/>
        </p:nvSpPr>
        <p:spPr>
          <a:xfrm>
            <a:off x="7225215" y="4297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36.7% (58 of 158)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228600" y="461772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Jake Borah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194560" y="4654296"/>
            <a:ext cx="5403273" cy="201168"/>
          </a:xfrm>
          <a:prstGeom prst="rect">
            <a:avLst>
              <a:gd name="adj" fmla="val 13636"/>
            </a:avLst>
          </a:prstGeom>
          <a:solidFill>
            <a:srgbClr val="EF4444"/>
          </a:solidFill>
          <a:ln/>
        </p:spPr>
      </p:sp>
      <p:sp>
        <p:nvSpPr>
          <p:cNvPr id="40" name="Text 38"/>
          <p:cNvSpPr/>
          <p:nvPr/>
        </p:nvSpPr>
        <p:spPr>
          <a:xfrm>
            <a:off x="7670985" y="4617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 (46 of 115)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28600" y="49377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Husam Zalmiyar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194560" y="4974336"/>
            <a:ext cx="5876059" cy="201168"/>
          </a:xfrm>
          <a:prstGeom prst="rect">
            <a:avLst>
              <a:gd name="adj" fmla="val 13636"/>
            </a:avLst>
          </a:prstGeom>
          <a:solidFill>
            <a:srgbClr val="EF4444"/>
          </a:solidFill>
          <a:ln/>
        </p:spPr>
      </p:sp>
      <p:sp>
        <p:nvSpPr>
          <p:cNvPr id="43" name="Text 41"/>
          <p:cNvSpPr/>
          <p:nvPr/>
        </p:nvSpPr>
        <p:spPr>
          <a:xfrm>
            <a:off x="8143771" y="4937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43.5% (57 of 131)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28600" y="5138928"/>
            <a:ext cx="8321040" cy="274320"/>
          </a:xfrm>
          <a:prstGeom prst="rect">
            <a:avLst>
              <a:gd name="adj" fmla="val 16667"/>
            </a:avLst>
          </a:prstGeom>
          <a:solidFill>
            <a:srgbClr val="EFF6FF"/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7472" y="516636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⭐  Action: Interview Dahlstrom this week — extract his confirmation/booking process and make it the team standard.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4 · ICP Analysis — Who Is Actually Buying?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" y="62179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78% net new logos · 20% Billing cross-sell · Tigerpaw migration minimal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2606040" cy="960120"/>
          </a:xfrm>
          <a:prstGeom prst="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97280"/>
            <a:ext cx="260604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1188720"/>
            <a:ext cx="2386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NEW LOGOS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65760" y="135331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1792224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 of 115 wins — no prior Rev.io relationship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017520" y="1097280"/>
            <a:ext cx="2606040" cy="960120"/>
          </a:xfrm>
          <a:prstGeom prst="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17520" y="1097280"/>
            <a:ext cx="2606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3127248" y="1188720"/>
            <a:ext cx="2386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CROSS-SELL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108960" y="135331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108960" y="1792224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wins · $844 avg MRR · ~30% win rate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760720" y="1097280"/>
            <a:ext cx="2651760" cy="960120"/>
          </a:xfrm>
          <a:prstGeom prst="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60720" y="1097280"/>
            <a:ext cx="265176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5870448" y="1188720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CROSS-SELL WIN RATE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852160" y="1353312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~30%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852160" y="179222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 9.2% overall — 3× better conversion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28600" y="2194560"/>
            <a:ext cx="1874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148840" y="21945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651760" y="21945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Losses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246120" y="219456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 Rate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023360" y="21945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MRR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892040" y="21945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28600" y="2423160"/>
            <a:ext cx="8321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8600" y="2487168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New (no prior relationship)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148840" y="248716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651760" y="248716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~1,000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46120" y="2487168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~8–9%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023360" y="248716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92040" y="248716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growth engine · 78% of wins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82880" y="2862072"/>
            <a:ext cx="8412480" cy="36576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34" name="Text 32"/>
          <p:cNvSpPr/>
          <p:nvPr/>
        </p:nvSpPr>
        <p:spPr>
          <a:xfrm>
            <a:off x="228600" y="2889504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Rev.io Billing Client (cross-sell)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148840" y="288950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651760" y="2889504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46120" y="2889504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~30%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023360" y="2889504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$844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92040" y="288950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Premium · highest win rate · underworked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28600" y="3291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Legacy Tigerpaw migration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2148840" y="32918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651760" y="32918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246120" y="329184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~33%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023360" y="329184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$1,280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892040" y="3291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Minimal — not a motion worth building 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28600" y="3767328"/>
            <a:ext cx="4023360" cy="1051560"/>
          </a:xfrm>
          <a:prstGeom prst="rect">
            <a:avLst>
              <a:gd name="adj" fmla="val 5217"/>
            </a:avLst>
          </a:prstGeom>
          <a:solidFill>
            <a:srgbClr val="F0FD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3858768"/>
            <a:ext cx="3794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💡  Billing Cross-Sell Is the Premium Segment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65760" y="4087368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1,125 Billing accounts. Only 23 have PSA Web. ~30% win rate vs 9.2% overall. Each conversion averages $844 MRR. Activate Usman's team on a coordinated cross-sell motion immediately.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389120" y="3767328"/>
            <a:ext cx="4114800" cy="1051560"/>
          </a:xfrm>
          <a:prstGeom prst="rect">
            <a:avLst>
              <a:gd name="adj" fmla="val 5217"/>
            </a:avLst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26280" y="3858768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🏆  PSA Web Is a True New Customer Product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526280" y="4087368"/>
            <a:ext cx="3886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78% of wins are net new logos — no prior Rev.io relationship. This is genuine market expansion, not a migration program. The 9.2% win rate applies to real new-market acquisition.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5 · Quick Wins — Closeable in the Next 30 Days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" y="62179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Deals in flight + signals that can generate MRR before any process change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28600" y="1078992"/>
            <a:ext cx="2651760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078992"/>
            <a:ext cx="265176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" y="117043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PIPE · 11 OPPS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1335024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$9,089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20040" y="1773936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Rev.io Billing → PSA opps in pipeline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017520" y="1078992"/>
            <a:ext cx="2651760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17520" y="1078992"/>
            <a:ext cx="265176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7248" y="117043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NINJAONE INTEGRATED · 9 ACCTS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108960" y="1335024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$6,900 MRR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108960" y="1773936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Integration live Feb 24 — call this week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806440" y="1078992"/>
            <a:ext cx="2651760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06440" y="1078992"/>
            <a:ext cx="265176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5916168" y="117043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APOLLO 2 UNLOCK (APR 1)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897880" y="1335024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$101.8K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897880" y="1773936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 deals unlocked when A2 ships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28600" y="21031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468880" y="21031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246120" y="21031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480560" y="2103120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MRR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029200" y="21031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Priority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28600" y="2331720"/>
            <a:ext cx="8321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2880" y="2368296"/>
            <a:ext cx="8412480" cy="3657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27" name="Text 25"/>
          <p:cNvSpPr/>
          <p:nvPr/>
        </p:nvSpPr>
        <p:spPr>
          <a:xfrm>
            <a:off x="228600" y="239572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Losh Network Services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468880" y="239572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C. Flynn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246120" y="239572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5 · Contract Validated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480560" y="239572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$1,004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29200" y="239572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🔥 Near close — push to sign now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82880" y="2770632"/>
            <a:ext cx="8412480" cy="3657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33" name="Text 31"/>
          <p:cNvSpPr/>
          <p:nvPr/>
        </p:nvSpPr>
        <p:spPr>
          <a:xfrm>
            <a:off x="228600" y="2798064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Verbal Commit — Flynn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468880" y="27980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C. Flynn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246120" y="2798064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6 · Verbal Commit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480560" y="2798064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279806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🔥 Verbal yes — get paper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28600" y="32004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Clear Rate PSA III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468880" y="32004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J. Butler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46120" y="32004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4 · Proposal Sent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480560" y="320040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$500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029200" y="3200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Proposal out — follow up today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28600" y="3602736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Tricom Technology Solutions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468880" y="3602736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C. Flynn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46120" y="3602736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3 · Demo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480560" y="3602736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$1,220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0" y="360273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Post-demo — send proposal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28600" y="400507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VTX Telecom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468880" y="40050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J. Abarno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246120" y="400507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480560" y="400507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$1,680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029200" y="400507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⭐ Billing client — Abarno on it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228600" y="440740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Vision CTS PSA II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2468880" y="440740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C. Flynn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3246120" y="440740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480560" y="44074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$1,260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29200" y="44074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⏰ CW renewal April — timing urgency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28600" y="4828032"/>
            <a:ext cx="8321040" cy="256032"/>
          </a:xfrm>
          <a:prstGeom prst="rect">
            <a:avLst>
              <a:gd name="adj" fmla="val 17857"/>
            </a:avLst>
          </a:prstGeom>
          <a:solidFill>
            <a:srgbClr val="EFF6FF"/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47472" y="4855464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📞  NinjaOne: 9 accounts ($6,900 MRR) were waiting on this integration. It's live. Assign Abarno — 5-day close, 20.9% win rate, best odds on the team.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6 · 5× Math Model — How We Get to $47,500 MRR/Month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" y="62179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levers, no new hires required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28600" y="1078992"/>
            <a:ext cx="2697480" cy="3703320"/>
          </a:xfrm>
          <a:prstGeom prst="rect">
            <a:avLst>
              <a:gd name="adj" fmla="val 3390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1430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A · PSA Fixes Only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157276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~$15,200/mo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38328" y="2176272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8100" indent="-38100"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no-shows: 35% → 15%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" y="2615184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8100" indent="-38100"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Lift win rate: 9.2% → 15%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8328" y="3054096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8100" indent="-38100"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avg deal: $660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38328" y="3493008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~23 wins/mo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8328" y="3931920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 ~$15,200/mo (1.6×)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063240" y="1078992"/>
            <a:ext cx="2697480" cy="3703320"/>
          </a:xfrm>
          <a:prstGeom prst="rect">
            <a:avLst>
              <a:gd name="adj" fmla="val 3390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72968" y="11430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B · PSA + Billing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54680" y="157276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~$21,300/mo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172968" y="2176272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8100" indent="-38100"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PSA fixes: $15,200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72968" y="2615184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Billing cross-sell: 7/mo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172968" y="3054096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8100" indent="-38100"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(25 opps × 30% × $844)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172968" y="3493008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 +$6,100/mo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172968" y="3931920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 ~$21,300/mo (2.2×)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97880" y="1078992"/>
            <a:ext cx="2697480" cy="3703320"/>
          </a:xfrm>
          <a:prstGeom prst="rect">
            <a:avLst>
              <a:gd name="adj" fmla="val 3390"/>
            </a:avLst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07608" y="11430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C · All Three ✅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89320" y="1572768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~$43K/mo ≈ 4.5×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007608" y="2176272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8100" indent="-38100"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PSA fixes: $15,200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07608" y="2615184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Billing cross-sell: $6,100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007608" y="3054096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Cyber Protect (10 wins/mo)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07608" y="3493008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8100" indent="-38100"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@$2,130 avg: +$21,300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007608" y="3931920"/>
            <a:ext cx="2487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 ~$43K/mo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8600" y="4892040"/>
            <a:ext cx="8321040" cy="256032"/>
          </a:xfrm>
          <a:prstGeom prst="rect">
            <a:avLst>
              <a:gd name="adj" fmla="val 17857"/>
            </a:avLst>
          </a:prstGeom>
          <a:solidFill>
            <a:srgbClr val="FFF7E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491947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 Cyber Protect is the difference between 2.5× and 4.5×. At $2,130 avg deal, just 10 CP wins/month = $21K MRR. 5 all-time wins today. This motion needs a dedicated playbook.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Actions. Sequenced by Impact.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229600" cy="566928"/>
          </a:xfrm>
          <a:prstGeom prst="rect">
            <a:avLst>
              <a:gd name="adj" fmla="val 11290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457200" cy="566928"/>
          </a:xfrm>
          <a:prstGeom prst="rect">
            <a:avLst>
              <a:gd name="adj" fmla="val 14000"/>
            </a:avLst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87552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9875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WEEK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22960" y="1170432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 Dahlstrom — codify his 2.6% no-show process, roll it out team-wide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572768"/>
            <a:ext cx="8229600" cy="566928"/>
          </a:xfrm>
          <a:prstGeom prst="rect">
            <a:avLst>
              <a:gd name="adj" fmla="val 11290"/>
            </a:avLst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274320" y="1572768"/>
            <a:ext cx="457200" cy="566928"/>
          </a:xfrm>
          <a:prstGeom prst="rect">
            <a:avLst>
              <a:gd name="adj" fmla="val 14000"/>
            </a:avLst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64592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64592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WEEK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22960" y="1828800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 all 9 NinjaOne accounts — integration is live, assign to Abarno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2231136"/>
            <a:ext cx="8229600" cy="566928"/>
          </a:xfrm>
          <a:prstGeom prst="rect">
            <a:avLst>
              <a:gd name="adj" fmla="val 11290"/>
            </a:avLst>
          </a:prstGeom>
          <a:solidFill>
            <a:srgbClr val="1E293B"/>
          </a:solidFill>
          <a:ln/>
        </p:spPr>
      </p:sp>
      <p:sp>
        <p:nvSpPr>
          <p:cNvPr id="15" name="Shape 13"/>
          <p:cNvSpPr/>
          <p:nvPr/>
        </p:nvSpPr>
        <p:spPr>
          <a:xfrm>
            <a:off x="274320" y="2231136"/>
            <a:ext cx="457200" cy="566928"/>
          </a:xfrm>
          <a:prstGeom prst="rect">
            <a:avLst>
              <a:gd name="adj" fmla="val 14000"/>
            </a:avLst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304288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2960" y="23042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MONTH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822960" y="2487168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Prioritize Billing-to-PSA cross-sell — loop in Usman's team on 1,100+ Billing accounts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2889504"/>
            <a:ext cx="8229600" cy="566928"/>
          </a:xfrm>
          <a:prstGeom prst="rect">
            <a:avLst>
              <a:gd name="adj" fmla="val 11290"/>
            </a:avLst>
          </a:prstGeom>
          <a:solidFill>
            <a:srgbClr val="1E293B"/>
          </a:solidFill>
          <a:ln/>
        </p:spPr>
      </p:sp>
      <p:sp>
        <p:nvSpPr>
          <p:cNvPr id="20" name="Shape 18"/>
          <p:cNvSpPr/>
          <p:nvPr/>
        </p:nvSpPr>
        <p:spPr>
          <a:xfrm>
            <a:off x="274320" y="2889504"/>
            <a:ext cx="457200" cy="566928"/>
          </a:xfrm>
          <a:prstGeom prst="rect">
            <a:avLst>
              <a:gd name="adj" fmla="val 14000"/>
            </a:avLst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2962656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22960" y="296265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MONTH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822960" y="3145536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Split rep coaching by failure mode — no-show vs ICP vs features — not one-size coaching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4320" y="3547872"/>
            <a:ext cx="8229600" cy="566928"/>
          </a:xfrm>
          <a:prstGeom prst="rect">
            <a:avLst>
              <a:gd name="adj" fmla="val 11290"/>
            </a:avLst>
          </a:prstGeom>
          <a:solidFill>
            <a:srgbClr val="1E293B"/>
          </a:solidFill>
          <a:ln/>
        </p:spPr>
      </p:sp>
      <p:sp>
        <p:nvSpPr>
          <p:cNvPr id="25" name="Shape 23"/>
          <p:cNvSpPr/>
          <p:nvPr/>
        </p:nvSpPr>
        <p:spPr>
          <a:xfrm>
            <a:off x="274320" y="3547872"/>
            <a:ext cx="457200" cy="566928"/>
          </a:xfrm>
          <a:prstGeom prst="rect">
            <a:avLst>
              <a:gd name="adj" fmla="val 14000"/>
            </a:avLst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" y="3621024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22960" y="362102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APR 1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822960" y="3803904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Warm the 98 Apollo 2 re-engagement accounts now — Vision CTS CW renewal is April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74320" y="4206240"/>
            <a:ext cx="8229600" cy="566928"/>
          </a:xfrm>
          <a:prstGeom prst="rect">
            <a:avLst>
              <a:gd name="adj" fmla="val 11290"/>
            </a:avLst>
          </a:prstGeom>
          <a:solidFill>
            <a:srgbClr val="1E293B"/>
          </a:solidFill>
          <a:ln/>
        </p:spPr>
      </p:sp>
      <p:sp>
        <p:nvSpPr>
          <p:cNvPr id="30" name="Shape 28"/>
          <p:cNvSpPr/>
          <p:nvPr/>
        </p:nvSpPr>
        <p:spPr>
          <a:xfrm>
            <a:off x="274320" y="4206240"/>
            <a:ext cx="457200" cy="566928"/>
          </a:xfrm>
          <a:prstGeom prst="rect">
            <a:avLst>
              <a:gd name="adj" fmla="val 14000"/>
            </a:avLst>
          </a:prstGeom>
          <a:solidFill>
            <a:srgbClr val="8B5CF6"/>
          </a:solidFill>
          <a:ln/>
        </p:spPr>
      </p:sp>
      <p:sp>
        <p:nvSpPr>
          <p:cNvPr id="31" name="Text 29"/>
          <p:cNvSpPr/>
          <p:nvPr/>
        </p:nvSpPr>
        <p:spPr>
          <a:xfrm>
            <a:off x="274320" y="4279392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22960" y="427939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QUARTER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822960" y="4462272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 dedicated Cyber Protect motion — 10 wins/mo = $21K MRR, the lever to 5×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2026-02-24T17:06:19Z</dcterms:created>
  <dcterms:modified xsi:type="dcterms:W3CDTF">2026-02-24T17:06:19Z</dcterms:modified>
</cp:coreProperties>
</file>