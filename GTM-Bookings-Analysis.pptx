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9B4D9"/>
                </a:solidFill>
              </a:rPr>
              <a:t>CONFIDENTIAL — INTERNAL USE ONLY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PSA Web GTM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Performance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A"/>
                </a:solidFill>
              </a:rPr>
              <a:t>Phases 1–6: Baseline · Funnel Autopsy · Rep Benchmarking · ICP Analysis · Quick Wins · 5× Math Model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515600" cy="0"/>
          </a:xfrm>
          <a:prstGeom prst="line">
            <a:avLst/>
          </a:prstGeom>
          <a:noFill/>
          <a:ln w="12700">
            <a:solidFill>
              <a:srgbClr val="2A5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115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PSA Web Wins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118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$75,940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118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Total MRR Won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836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Win Rate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5554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5×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554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Bookings Target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406908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9B"/>
                </a:solidFill>
              </a:rPr>
              <a:t>Data as of February 24, 2026  |  Salesforce PSA Web (post-launch Jun 29, 2025)  |  Prepared by Revay 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The Headline: 67% of Losses Are Fixable. The Market Is Untapped.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5577840" cy="73152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188720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" y="1243584"/>
            <a:ext cx="5321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🔴 The Execution Problem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2336" y="1499616"/>
            <a:ext cx="53218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Discovery No-Shows account for 34.8% of all losses — the prospect ghosted the demo before it started. Not Right Time adds 17.2% more. Only 1.6% are competitive losses. This is a show-rate problem, not a product problem.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5040" y="1115568"/>
            <a:ext cx="566928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5040" y="1188720"/>
            <a:ext cx="56692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3056" y="1243584"/>
            <a:ext cx="5413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🟢 The Market Opportunity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3056" y="1499616"/>
            <a:ext cx="5413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62% of PSA Web wins came from security integrators and AV companies — a "bridge market." Real ICP (IT MSPs on CW/Kaseya/Halo) = only 11 wins out of 115. That market is essentially untouched. Product is now ready.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331720"/>
            <a:ext cx="557784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404872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" y="2459736"/>
            <a:ext cx="5321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⚡ 3 Near-Term Levers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02336" y="2715768"/>
            <a:ext cx="53218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1. Fix show rates — Dahlstrom at 2.6% vs 35% team avg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2. Billing cross-sell — 3× win rate, $1,433 avg deal, 52 lost prospects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3. Tigerpaw activation — 80–100 hot-intent accounts identified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2331720"/>
            <a:ext cx="5669280" cy="73152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20" name="Shape 18"/>
          <p:cNvSpPr/>
          <p:nvPr/>
        </p:nvSpPr>
        <p:spPr>
          <a:xfrm>
            <a:off x="6035040" y="2404872"/>
            <a:ext cx="56692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63056" y="2459736"/>
            <a:ext cx="5413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📐 The 5× Path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63056" y="2715768"/>
            <a:ext cx="5413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 single fix reaches 5×. The math requires: (1) execution fixes in Q1, (2) near-term pipeline activation in Q2, and (3) IT MSP market development in H2. Each phase modeled in Section 7.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3584448"/>
            <a:ext cx="11430000" cy="109728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7490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Core Finding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" y="405993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67% of losses happened before product was ever evaluated — fix the front of the funnel first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" y="440740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The real ICP (IT MSPs) was underserved while the product was being built — that changes now with Apollo 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" y="475488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5× is achievable in 12–18 months with the right sequencing: fix → activate → expand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1 — BASELINE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7 Months In: $9,526/Mo Average — Decelerating Since October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115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Total Wins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22860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24328" y="1188720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$75,940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87752" y="1636776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Total MRR Won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93776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4748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$660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01091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Avg MRR / Deal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17804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8776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$9,526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5119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Mo. Avg (Jul–Jan)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418320" y="1143000"/>
            <a:ext cx="2194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528048" y="118872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5×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491472" y="1636776"/>
            <a:ext cx="20482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Bookings Target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2893039"/>
            <a:ext cx="1291590" cy="947441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2691871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$9K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43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Jul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7.7%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03070" y="3049757"/>
            <a:ext cx="1291590" cy="790723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1703070" y="2848589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$7K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7030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Aug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70307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6.1%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31820" y="2955173"/>
            <a:ext cx="1291590" cy="885307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3131820" y="2754005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$8K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1318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Sep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1318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12.2%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560570" y="2194560"/>
            <a:ext cx="1291590" cy="1645920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35" name="Text 33"/>
          <p:cNvSpPr/>
          <p:nvPr/>
        </p:nvSpPr>
        <p:spPr>
          <a:xfrm>
            <a:off x="4560570" y="1993392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63A"/>
                </a:solidFill>
              </a:rPr>
              <a:t>$15K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5605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Oct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6057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10.1%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989320" y="2800795"/>
            <a:ext cx="1291590" cy="103968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5989320" y="259962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$10K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9893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Nov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9893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6.1%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418070" y="2665355"/>
            <a:ext cx="1291590" cy="117512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7418070" y="246418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$11K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4180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Dec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846820" y="3229777"/>
            <a:ext cx="1291590" cy="610703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6" name="Text 44"/>
          <p:cNvSpPr/>
          <p:nvPr/>
        </p:nvSpPr>
        <p:spPr>
          <a:xfrm>
            <a:off x="8846820" y="3028609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$6K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8468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Jan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8468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63A"/>
                </a:solidFill>
              </a:rPr>
              <a:t>4.7%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0275570" y="3153705"/>
            <a:ext cx="1291590" cy="68677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50" name="Text 48"/>
          <p:cNvSpPr/>
          <p:nvPr/>
        </p:nvSpPr>
        <p:spPr>
          <a:xfrm>
            <a:off x="10275570" y="295253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$6K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02755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Feb*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4320" y="404164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F93"/>
                </a:solidFill>
              </a:rPr>
              <a:t>Win Rate: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74320" y="4224528"/>
            <a:ext cx="1143000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54" name="Shape 52"/>
          <p:cNvSpPr/>
          <p:nvPr/>
        </p:nvSpPr>
        <p:spPr>
          <a:xfrm>
            <a:off x="274320" y="4297680"/>
            <a:ext cx="11430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2336" y="4352544"/>
            <a:ext cx="11173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⚠️ The Deceleration Signal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02336" y="4608576"/>
            <a:ext cx="11173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October peaked at $15,470 (22 wins). January had MORE pipeline (201 closures) but the WORST win rate (4.7%) — 2.6× lower than September. Pipeline volume is not the problem. Diagnosing the quality/execution collapse between October and January is the critical unlock.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2 — FUNNEL AUTOPSY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The Funnel Breaks at the Front: 34.8% Never Show Up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155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LOSS REASONS — 1,137 DEALS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Discovery No-Show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453896"/>
            <a:ext cx="548640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396 deals  34.8%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74320" y="1801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Not Right Time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51760" y="1837944"/>
            <a:ext cx="2701636" cy="219456"/>
          </a:xfrm>
          <a:prstGeom prst="rect">
            <a:avLst/>
          </a:prstGeom>
          <a:solidFill>
            <a:srgbClr val="E07B31"/>
          </a:solidFill>
          <a:ln/>
        </p:spPr>
      </p:sp>
      <p:sp>
        <p:nvSpPr>
          <p:cNvPr id="13" name="Text 11"/>
          <p:cNvSpPr/>
          <p:nvPr/>
        </p:nvSpPr>
        <p:spPr>
          <a:xfrm>
            <a:off x="5444836" y="1801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195 deals  17.2%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74320" y="21854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Missing Features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2221992"/>
            <a:ext cx="2327564" cy="21945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5070764" y="21854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168 deals  14.8%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4320" y="256946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 Decision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51760" y="2606040"/>
            <a:ext cx="1648691" cy="219456"/>
          </a:xfrm>
          <a:prstGeom prst="rect">
            <a:avLst/>
          </a:prstGeom>
          <a:solidFill>
            <a:srgbClr val="777777"/>
          </a:solidFill>
          <a:ln/>
        </p:spPr>
      </p:sp>
      <p:sp>
        <p:nvSpPr>
          <p:cNvPr id="19" name="Text 17"/>
          <p:cNvSpPr/>
          <p:nvPr/>
        </p:nvSpPr>
        <p:spPr>
          <a:xfrm>
            <a:off x="4391891" y="256946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119 deals  10.5%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4320" y="2953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Price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651760" y="2990088"/>
            <a:ext cx="1108364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22" name="Text 20"/>
          <p:cNvSpPr/>
          <p:nvPr/>
        </p:nvSpPr>
        <p:spPr>
          <a:xfrm>
            <a:off x="3851564" y="2953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80 deals  7.0%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3337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Lost to Competitor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651760" y="3374136"/>
            <a:ext cx="249382" cy="21945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25" name="Text 23"/>
          <p:cNvSpPr/>
          <p:nvPr/>
        </p:nvSpPr>
        <p:spPr>
          <a:xfrm>
            <a:off x="2992582" y="3337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18 deals  1.6%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35040" y="1115568"/>
            <a:ext cx="0" cy="310896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1155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CYCLE TIME (WINS ONLY)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1417320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27648" y="1463040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9 Days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291072" y="191109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Median to Close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06840" y="1417320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16568" y="1463040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12.6 Days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079992" y="191109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Avg to Close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217920" y="239572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27648" y="244144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41%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91072" y="288950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Close ≤7 Days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006840" y="239572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116568" y="244144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9%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079992" y="288950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Take 30+ Days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217920" y="3383280"/>
            <a:ext cx="539496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1" name="Shape 39"/>
          <p:cNvSpPr/>
          <p:nvPr/>
        </p:nvSpPr>
        <p:spPr>
          <a:xfrm>
            <a:off x="6217920" y="3456432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45936" y="3511296"/>
            <a:ext cx="5138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✅ Speed = Signal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45936" y="3767328"/>
            <a:ext cx="51389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Abarno median: 5 days. Fast cycles = qualified buyers. Herndon averages 25 days but wins $1,153/deal — the only exception worth studying. Everything else: if it drags, it likely dies.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4224528"/>
            <a:ext cx="11430000" cy="9144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5" name="Text 43"/>
          <p:cNvSpPr/>
          <p:nvPr/>
        </p:nvSpPr>
        <p:spPr>
          <a:xfrm>
            <a:off x="475488" y="43891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Key: 67% of Losses Are Pre-Product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75488" y="470001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No-Show (35%) + Not Right Time (17%) + No Decision (11%) = 63% of losses never evaluated the product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5488" y="504748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Competitive losses = only 1.6% — do NOT invest in competitive positioning at the expense of execution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3 — REP BENCHMARKING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Abarno at 20.9% Proves What's Possible. Bottom Half of Team Is at Half That.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" y="1097280"/>
            <a:ext cx="11704320" cy="2743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" y="111556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0" y="111556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Wins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91840" y="1115568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Win Rate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114800" y="111556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Avg MRR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92040" y="111556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No-Show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0" y="111556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Open Pipeline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949440" y="111556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Assessment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7160" y="1371600"/>
            <a:ext cx="1170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82880" y="1408176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Joseph Abarno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2743200" y="140817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19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3291840" y="140817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7AE60"/>
                </a:solidFill>
              </a:rPr>
              <a:t>20.9%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114800" y="1408176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$769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4892040" y="1408176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463A"/>
                </a:solidFill>
              </a:rPr>
              <a:t>36.3%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5669280" y="1408176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$5,645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6949440" y="140817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7AE60"/>
                </a:solidFill>
              </a:rPr>
              <a:t>Team Template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137160" y="1664208"/>
            <a:ext cx="11704320" cy="27432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24" name="Text 22"/>
          <p:cNvSpPr/>
          <p:nvPr/>
        </p:nvSpPr>
        <p:spPr>
          <a:xfrm>
            <a:off x="182880" y="1700784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Andy Whisenant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2743200" y="170078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9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3291840" y="170078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7AE60"/>
                </a:solidFill>
              </a:rPr>
              <a:t>10.7%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4114800" y="170078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$591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4892040" y="170078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463A"/>
                </a:solidFill>
              </a:rPr>
              <a:t>35.7%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5669280" y="1700784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$5,135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6949440" y="170078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980B9"/>
                </a:solidFill>
              </a:rPr>
              <a:t>Solid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137160" y="1956816"/>
            <a:ext cx="1170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1993392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Patrick Dahlstrom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2743200" y="199339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8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3291840" y="19933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7AE60"/>
                </a:solidFill>
              </a:rPr>
              <a:t>10.5%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4114800" y="199339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$621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4892040" y="199339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7AE60"/>
                </a:solidFill>
              </a:rPr>
              <a:t>2.6%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5669280" y="199339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—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6949440" y="199339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8E44AD"/>
                </a:solidFill>
              </a:rPr>
              <a:t>Show Rate Coach 🏆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137160" y="2249424"/>
            <a:ext cx="11704320" cy="27432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40" name="Text 38"/>
          <p:cNvSpPr/>
          <p:nvPr/>
        </p:nvSpPr>
        <p:spPr>
          <a:xfrm>
            <a:off x="182880" y="228600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Jake Borah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2743200" y="2286000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9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3291840" y="228600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7AE60"/>
                </a:solidFill>
              </a:rPr>
              <a:t>10.4%</a:t>
            </a:r>
            <a:endParaRPr lang="en-US" sz="820" dirty="0"/>
          </a:p>
        </p:txBody>
      </p:sp>
      <p:sp>
        <p:nvSpPr>
          <p:cNvPr id="43" name="Text 41"/>
          <p:cNvSpPr/>
          <p:nvPr/>
        </p:nvSpPr>
        <p:spPr>
          <a:xfrm>
            <a:off x="4114800" y="228600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$604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4892040" y="228600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463A"/>
                </a:solidFill>
              </a:rPr>
              <a:t>40.0%</a:t>
            </a:r>
            <a:endParaRPr lang="en-US" sz="820" dirty="0"/>
          </a:p>
        </p:txBody>
      </p:sp>
      <p:sp>
        <p:nvSpPr>
          <p:cNvPr id="45" name="Text 43"/>
          <p:cNvSpPr/>
          <p:nvPr/>
        </p:nvSpPr>
        <p:spPr>
          <a:xfrm>
            <a:off x="5669280" y="228600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$4,375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6949440" y="22860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39C12"/>
                </a:solidFill>
              </a:rPr>
              <a:t>Fix Show Rate</a:t>
            </a:r>
            <a:endParaRPr lang="en-US" sz="820" dirty="0"/>
          </a:p>
        </p:txBody>
      </p:sp>
      <p:sp>
        <p:nvSpPr>
          <p:cNvPr id="47" name="Shape 45"/>
          <p:cNvSpPr/>
          <p:nvPr/>
        </p:nvSpPr>
        <p:spPr>
          <a:xfrm>
            <a:off x="137160" y="2542032"/>
            <a:ext cx="1170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182880" y="257860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Jake Mitchell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2743200" y="257860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8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3291840" y="257860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7AE60"/>
                </a:solidFill>
              </a:rPr>
              <a:t>10.3%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4114800" y="257860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$584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4892040" y="257860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32.1%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5669280" y="2578608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$5,075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6949440" y="257860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980B9"/>
                </a:solidFill>
              </a:rPr>
              <a:t>Solid</a:t>
            </a:r>
            <a:endParaRPr lang="en-US" sz="820" dirty="0"/>
          </a:p>
        </p:txBody>
      </p:sp>
      <p:sp>
        <p:nvSpPr>
          <p:cNvPr id="55" name="Shape 53"/>
          <p:cNvSpPr/>
          <p:nvPr/>
        </p:nvSpPr>
        <p:spPr>
          <a:xfrm>
            <a:off x="137160" y="2834640"/>
            <a:ext cx="11704320" cy="27432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56" name="Text 54"/>
          <p:cNvSpPr/>
          <p:nvPr/>
        </p:nvSpPr>
        <p:spPr>
          <a:xfrm>
            <a:off x="182880" y="2871216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Davis Herndon</a:t>
            </a:r>
            <a:endParaRPr lang="en-US" sz="820" dirty="0"/>
          </a:p>
        </p:txBody>
      </p:sp>
      <p:sp>
        <p:nvSpPr>
          <p:cNvPr id="57" name="Text 55"/>
          <p:cNvSpPr/>
          <p:nvPr/>
        </p:nvSpPr>
        <p:spPr>
          <a:xfrm>
            <a:off x="2743200" y="2871216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4</a:t>
            </a:r>
            <a:endParaRPr lang="en-US" sz="820" dirty="0"/>
          </a:p>
        </p:txBody>
      </p:sp>
      <p:sp>
        <p:nvSpPr>
          <p:cNvPr id="58" name="Text 56"/>
          <p:cNvSpPr/>
          <p:nvPr/>
        </p:nvSpPr>
        <p:spPr>
          <a:xfrm>
            <a:off x="3291840" y="287121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7.5%</a:t>
            </a:r>
            <a:endParaRPr lang="en-US" sz="820" dirty="0"/>
          </a:p>
        </p:txBody>
      </p:sp>
      <p:sp>
        <p:nvSpPr>
          <p:cNvPr id="59" name="Text 57"/>
          <p:cNvSpPr/>
          <p:nvPr/>
        </p:nvSpPr>
        <p:spPr>
          <a:xfrm>
            <a:off x="4114800" y="2871216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$1,153 ★</a:t>
            </a:r>
            <a:endParaRPr lang="en-US" sz="820" dirty="0"/>
          </a:p>
        </p:txBody>
      </p:sp>
      <p:sp>
        <p:nvSpPr>
          <p:cNvPr id="60" name="Text 58"/>
          <p:cNvSpPr/>
          <p:nvPr/>
        </p:nvSpPr>
        <p:spPr>
          <a:xfrm>
            <a:off x="4892040" y="2871216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32.1%</a:t>
            </a:r>
            <a:endParaRPr lang="en-US" sz="820" dirty="0"/>
          </a:p>
        </p:txBody>
      </p:sp>
      <p:sp>
        <p:nvSpPr>
          <p:cNvPr id="61" name="Text 59"/>
          <p:cNvSpPr/>
          <p:nvPr/>
        </p:nvSpPr>
        <p:spPr>
          <a:xfrm>
            <a:off x="5669280" y="2871216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$2,995</a:t>
            </a:r>
            <a:endParaRPr lang="en-US" sz="820" dirty="0"/>
          </a:p>
        </p:txBody>
      </p:sp>
      <p:sp>
        <p:nvSpPr>
          <p:cNvPr id="62" name="Text 60"/>
          <p:cNvSpPr/>
          <p:nvPr/>
        </p:nvSpPr>
        <p:spPr>
          <a:xfrm>
            <a:off x="6949440" y="287121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8E44AD"/>
                </a:solidFill>
              </a:rPr>
              <a:t>Study Him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137160" y="3127248"/>
            <a:ext cx="1170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182880" y="3163824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Jamie Butler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2743200" y="316382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5</a:t>
            </a:r>
            <a:endParaRPr lang="en-US" sz="820" dirty="0"/>
          </a:p>
        </p:txBody>
      </p:sp>
      <p:sp>
        <p:nvSpPr>
          <p:cNvPr id="66" name="Text 64"/>
          <p:cNvSpPr/>
          <p:nvPr/>
        </p:nvSpPr>
        <p:spPr>
          <a:xfrm>
            <a:off x="3291840" y="316382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7.5%</a:t>
            </a:r>
            <a:endParaRPr lang="en-US" sz="820" dirty="0"/>
          </a:p>
        </p:txBody>
      </p:sp>
      <p:sp>
        <p:nvSpPr>
          <p:cNvPr id="67" name="Text 65"/>
          <p:cNvSpPr/>
          <p:nvPr/>
        </p:nvSpPr>
        <p:spPr>
          <a:xfrm>
            <a:off x="4114800" y="316382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$627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4892040" y="316382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12.5%</a:t>
            </a:r>
            <a:endParaRPr lang="en-US" sz="820" dirty="0"/>
          </a:p>
        </p:txBody>
      </p:sp>
      <p:sp>
        <p:nvSpPr>
          <p:cNvPr id="69" name="Text 67"/>
          <p:cNvSpPr/>
          <p:nvPr/>
        </p:nvSpPr>
        <p:spPr>
          <a:xfrm>
            <a:off x="5669280" y="3163824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$8,155</a:t>
            </a:r>
            <a:endParaRPr lang="en-US" sz="820" dirty="0"/>
          </a:p>
        </p:txBody>
      </p:sp>
      <p:sp>
        <p:nvSpPr>
          <p:cNvPr id="70" name="Text 68"/>
          <p:cNvSpPr/>
          <p:nvPr/>
        </p:nvSpPr>
        <p:spPr>
          <a:xfrm>
            <a:off x="6949440" y="316382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39C12"/>
                </a:solidFill>
              </a:rPr>
              <a:t>Large Pipeline</a:t>
            </a:r>
            <a:endParaRPr lang="en-US" sz="820" dirty="0"/>
          </a:p>
        </p:txBody>
      </p:sp>
      <p:sp>
        <p:nvSpPr>
          <p:cNvPr id="71" name="Shape 69"/>
          <p:cNvSpPr/>
          <p:nvPr/>
        </p:nvSpPr>
        <p:spPr>
          <a:xfrm>
            <a:off x="137160" y="3419856"/>
            <a:ext cx="11704320" cy="27432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72" name="Text 70"/>
          <p:cNvSpPr/>
          <p:nvPr/>
        </p:nvSpPr>
        <p:spPr>
          <a:xfrm>
            <a:off x="182880" y="3456432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73" name="Text 71"/>
          <p:cNvSpPr/>
          <p:nvPr/>
        </p:nvSpPr>
        <p:spPr>
          <a:xfrm>
            <a:off x="2743200" y="3456432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6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3291840" y="345643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6.9%</a:t>
            </a:r>
            <a:endParaRPr lang="en-US" sz="820" dirty="0"/>
          </a:p>
        </p:txBody>
      </p:sp>
      <p:sp>
        <p:nvSpPr>
          <p:cNvPr id="75" name="Text 73"/>
          <p:cNvSpPr/>
          <p:nvPr/>
        </p:nvSpPr>
        <p:spPr>
          <a:xfrm>
            <a:off x="4114800" y="345643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$606</a:t>
            </a:r>
            <a:endParaRPr lang="en-US" sz="820" dirty="0"/>
          </a:p>
        </p:txBody>
      </p:sp>
      <p:sp>
        <p:nvSpPr>
          <p:cNvPr id="76" name="Text 74"/>
          <p:cNvSpPr/>
          <p:nvPr/>
        </p:nvSpPr>
        <p:spPr>
          <a:xfrm>
            <a:off x="4892040" y="345643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16.2%</a:t>
            </a:r>
            <a:endParaRPr lang="en-US" sz="820" dirty="0"/>
          </a:p>
        </p:txBody>
      </p:sp>
      <p:sp>
        <p:nvSpPr>
          <p:cNvPr id="77" name="Text 75"/>
          <p:cNvSpPr/>
          <p:nvPr/>
        </p:nvSpPr>
        <p:spPr>
          <a:xfrm>
            <a:off x="5669280" y="345643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$7,499</a:t>
            </a:r>
            <a:endParaRPr lang="en-US" sz="820" dirty="0"/>
          </a:p>
        </p:txBody>
      </p:sp>
      <p:sp>
        <p:nvSpPr>
          <p:cNvPr id="78" name="Text 76"/>
          <p:cNvSpPr/>
          <p:nvPr/>
        </p:nvSpPr>
        <p:spPr>
          <a:xfrm>
            <a:off x="6949440" y="345643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39C12"/>
                </a:solidFill>
              </a:rPr>
              <a:t>Large Pipeline</a:t>
            </a:r>
            <a:endParaRPr lang="en-US" sz="820" dirty="0"/>
          </a:p>
        </p:txBody>
      </p:sp>
      <p:sp>
        <p:nvSpPr>
          <p:cNvPr id="79" name="Shape 77"/>
          <p:cNvSpPr/>
          <p:nvPr/>
        </p:nvSpPr>
        <p:spPr>
          <a:xfrm>
            <a:off x="137160" y="3712464"/>
            <a:ext cx="117043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Text 78"/>
          <p:cNvSpPr/>
          <p:nvPr/>
        </p:nvSpPr>
        <p:spPr>
          <a:xfrm>
            <a:off x="182880" y="374904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Patrick Davies</a:t>
            </a:r>
            <a:endParaRPr lang="en-US" sz="820" dirty="0"/>
          </a:p>
        </p:txBody>
      </p:sp>
      <p:sp>
        <p:nvSpPr>
          <p:cNvPr id="81" name="Text 79"/>
          <p:cNvSpPr/>
          <p:nvPr/>
        </p:nvSpPr>
        <p:spPr>
          <a:xfrm>
            <a:off x="2743200" y="3749040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5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3291840" y="374904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6.3%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114800" y="374904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$625</a:t>
            </a:r>
            <a:endParaRPr lang="en-US" sz="820" dirty="0"/>
          </a:p>
        </p:txBody>
      </p:sp>
      <p:sp>
        <p:nvSpPr>
          <p:cNvPr id="84" name="Text 82"/>
          <p:cNvSpPr/>
          <p:nvPr/>
        </p:nvSpPr>
        <p:spPr>
          <a:xfrm>
            <a:off x="4892040" y="374904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463A"/>
                </a:solidFill>
              </a:rPr>
              <a:t>36.7%</a:t>
            </a:r>
            <a:endParaRPr lang="en-US" sz="820" dirty="0"/>
          </a:p>
        </p:txBody>
      </p:sp>
      <p:sp>
        <p:nvSpPr>
          <p:cNvPr id="85" name="Text 83"/>
          <p:cNvSpPr/>
          <p:nvPr/>
        </p:nvSpPr>
        <p:spPr>
          <a:xfrm>
            <a:off x="5669280" y="374904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$11,630 ★★</a:t>
            </a:r>
            <a:endParaRPr lang="en-US" sz="820" dirty="0"/>
          </a:p>
        </p:txBody>
      </p:sp>
      <p:sp>
        <p:nvSpPr>
          <p:cNvPr id="86" name="Text 84"/>
          <p:cNvSpPr/>
          <p:nvPr/>
        </p:nvSpPr>
        <p:spPr>
          <a:xfrm>
            <a:off x="6949440" y="37490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463A"/>
                </a:solidFill>
              </a:rPr>
              <a:t>Most Pipeline/Low Close</a:t>
            </a:r>
            <a:endParaRPr lang="en-US" sz="820" dirty="0"/>
          </a:p>
        </p:txBody>
      </p:sp>
      <p:sp>
        <p:nvSpPr>
          <p:cNvPr id="87" name="Shape 85"/>
          <p:cNvSpPr/>
          <p:nvPr/>
        </p:nvSpPr>
        <p:spPr>
          <a:xfrm>
            <a:off x="137160" y="4005072"/>
            <a:ext cx="11704320" cy="274320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88" name="Text 86"/>
          <p:cNvSpPr/>
          <p:nvPr/>
        </p:nvSpPr>
        <p:spPr>
          <a:xfrm>
            <a:off x="182880" y="404164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A4F63"/>
                </a:solidFill>
              </a:rPr>
              <a:t>Husam Zalmiyar</a:t>
            </a:r>
            <a:endParaRPr lang="en-US" sz="820" dirty="0"/>
          </a:p>
        </p:txBody>
      </p:sp>
      <p:sp>
        <p:nvSpPr>
          <p:cNvPr id="89" name="Text 87"/>
          <p:cNvSpPr/>
          <p:nvPr/>
        </p:nvSpPr>
        <p:spPr>
          <a:xfrm>
            <a:off x="2743200" y="4041648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5</a:t>
            </a:r>
            <a:endParaRPr lang="en-US" sz="820" dirty="0"/>
          </a:p>
        </p:txBody>
      </p:sp>
      <p:sp>
        <p:nvSpPr>
          <p:cNvPr id="90" name="Text 88"/>
          <p:cNvSpPr/>
          <p:nvPr/>
        </p:nvSpPr>
        <p:spPr>
          <a:xfrm>
            <a:off x="3291840" y="404164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463A"/>
                </a:solidFill>
              </a:rPr>
              <a:t>5.3%</a:t>
            </a:r>
            <a:endParaRPr lang="en-US" sz="820" dirty="0"/>
          </a:p>
        </p:txBody>
      </p:sp>
      <p:sp>
        <p:nvSpPr>
          <p:cNvPr id="91" name="Text 89"/>
          <p:cNvSpPr/>
          <p:nvPr/>
        </p:nvSpPr>
        <p:spPr>
          <a:xfrm>
            <a:off x="4114800" y="404164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$584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4892040" y="404164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463A"/>
                </a:solidFill>
              </a:rPr>
              <a:t>43.5%</a:t>
            </a:r>
            <a:endParaRPr lang="en-US" sz="820" dirty="0"/>
          </a:p>
        </p:txBody>
      </p:sp>
      <p:sp>
        <p:nvSpPr>
          <p:cNvPr id="93" name="Text 91"/>
          <p:cNvSpPr/>
          <p:nvPr/>
        </p:nvSpPr>
        <p:spPr>
          <a:xfrm>
            <a:off x="5669280" y="4041648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$4,760</a:t>
            </a:r>
            <a:endParaRPr lang="en-US" sz="820" dirty="0"/>
          </a:p>
        </p:txBody>
      </p:sp>
      <p:sp>
        <p:nvSpPr>
          <p:cNvPr id="94" name="Text 92"/>
          <p:cNvSpPr/>
          <p:nvPr/>
        </p:nvSpPr>
        <p:spPr>
          <a:xfrm>
            <a:off x="6949440" y="404164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E8463A"/>
                </a:solidFill>
              </a:rPr>
              <a:t>Urgent Intervention</a:t>
            </a:r>
            <a:endParaRPr lang="en-US" sz="820" dirty="0"/>
          </a:p>
        </p:txBody>
      </p:sp>
      <p:sp>
        <p:nvSpPr>
          <p:cNvPr id="95" name="Text 93"/>
          <p:cNvSpPr/>
          <p:nvPr/>
        </p:nvSpPr>
        <p:spPr>
          <a:xfrm>
            <a:off x="137160" y="4352544"/>
            <a:ext cx="1170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★ Herndon avg deal 2× team avg — different buyer profile  |  ★★ Davies has most open pipeline — needs manager support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4 — ICP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We've Been Selling to the Wrong Buyers — By Design. Now We Don't Have To.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11430000" cy="9601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12801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🎯 Bridge Market vs. Real ICP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159105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Bridge market (Security Integrators + AV): 68 wins, 59% of total, avg $557/deal — bought while product was being built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" y="19385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Real ICP (IT MSPs on CW/Kaseya/Halo): only 11 wins (10%), avg $512/deal — barely targeted, product now ready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5488" y="228600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GTM motion must shift from "who will buy what we have" → "who should be buying this"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22128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F2540"/>
                </a:solidFill>
              </a:rPr>
              <a:t>WINS BY INDUSTRY (115 TOTAL)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40280" y="2523744"/>
            <a:ext cx="347472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24871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Security Integrator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806440" y="24871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51 wins  $30K MRR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240280" y="2825496"/>
            <a:ext cx="1567031" cy="219456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7889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UCaaS / VoIP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898751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23 wins  $19K MRR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40280" y="3127248"/>
            <a:ext cx="115824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309067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AV / Home Automation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89960" y="30906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17 wins  $10K MRR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240280" y="3429000"/>
            <a:ext cx="613186" cy="21945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39242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7AE60"/>
                </a:solidFill>
              </a:rPr>
              <a:t>MSP - No Voice (Real ICP)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906" y="33924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9 wins  $5K MRR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240280" y="3730752"/>
            <a:ext cx="272527" cy="219456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369417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Business Support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604247" y="36941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4 wins  $4K MRR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40280" y="4032504"/>
            <a:ext cx="136264" cy="219456"/>
          </a:xfrm>
          <a:prstGeom prst="rect">
            <a:avLst/>
          </a:prstGeom>
          <a:solidFill>
            <a:srgbClr val="5DADE2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39959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ISP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467984" y="39959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 wins  $2K MRR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240280" y="4334256"/>
            <a:ext cx="613186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" y="4297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Other / Cabling / SaaS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944906" y="4297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9 wins  $5K MRR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35040" y="2212848"/>
            <a:ext cx="0" cy="274320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221284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F2540"/>
                </a:solidFill>
              </a:rPr>
              <a:t>WINS BY ACCOUNT TYPE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217920" y="2487168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25328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Rev.io PSA Client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326880" y="253288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68 wins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149840" y="253288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$643 avg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871216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55080" y="291693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Tigerpaw Churn / Client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326880" y="291693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38 wins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149840" y="291693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$564 avg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17920" y="3255264"/>
            <a:ext cx="5303520" cy="320040"/>
          </a:xfrm>
          <a:prstGeom prst="rect">
            <a:avLst/>
          </a:prstGeom>
          <a:solidFill>
            <a:srgbClr val="D4EDDA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330098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A3A"/>
                </a:solidFill>
              </a:rPr>
              <a:t>Rev.io Billing Client ★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326880" y="330098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4 wins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149840" y="330098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$1,433 avg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217920" y="3639312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55080" y="368503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PSA Churn + Other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26880" y="36850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5 wins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149840" y="368503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$840 avg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217920" y="40416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7AE60"/>
                </a:solidFill>
              </a:rPr>
              <a:t>★ Billing clients = 30% win rate (3× team avg) — 4 won, 52 lost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74320" y="4251960"/>
            <a:ext cx="1143000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54" name="Shape 52"/>
          <p:cNvSpPr/>
          <p:nvPr/>
        </p:nvSpPr>
        <p:spPr>
          <a:xfrm>
            <a:off x="274320" y="4325112"/>
            <a:ext cx="11430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2336" y="4379976"/>
            <a:ext cx="11173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📊 Tigerpaw Context (Evan Rice, Feb 24)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02336" y="4636008"/>
            <a:ext cx="11173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~650 Tigerpaw clients not yet migrated. ~110 are "zombie accounts" (historical data only). ~540 real migration candidates. 80–100 have known migration intent. At $700/deal avg: $324K–$378K MRR potential in the migration base alone.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5 — QUICK WINS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$200K+ in Identified MRR Ready to Work — No New Market Required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2743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61288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$101,759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596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Apollo 2 Re-Engagements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154680" y="1115568"/>
            <a:ext cx="2560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64408" y="1161288"/>
            <a:ext cx="2340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98 Deals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27832" y="1609344"/>
            <a:ext cx="24140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Fully Unlocked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52160" y="1115568"/>
            <a:ext cx="2560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61888" y="1161288"/>
            <a:ext cx="2340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$9,089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25312" y="1609344"/>
            <a:ext cx="24140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Billing Pipeline Open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549640" y="1115568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59368" y="1161288"/>
            <a:ext cx="27980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</a:rPr>
              <a:t>$56K–$70K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622792" y="1609344"/>
            <a:ext cx="2871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Tigerpaw Hot-Intent MRR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48840"/>
            <a:ext cx="365760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2221992"/>
            <a:ext cx="3657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2336" y="2276856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🚀 Quick Win #1: Apollo 2 Re-Engagements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02336" y="2532888"/>
            <a:ext cx="34015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98 feature-gap losses fully unlocked by April 2026 roadmap. Reach out in March — before ship — with: "The feature you needed ships next month. Want to see it early?" Work list top-down by MRR.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69080" y="2148840"/>
            <a:ext cx="3657600" cy="73152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24" name="Shape 22"/>
          <p:cNvSpPr/>
          <p:nvPr/>
        </p:nvSpPr>
        <p:spPr>
          <a:xfrm>
            <a:off x="4069080" y="2221992"/>
            <a:ext cx="3657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97096" y="2276856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💼 Quick Win #2: Billing Cross-Sell Pipeline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97096" y="2532888"/>
            <a:ext cx="34015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11 open deals / $9,089 MRR. Existing customers — easiest closes in the system. 30% win rate vs 9.2% avg. Losh Network at Stage 5 and Vision CTS (CW renewal April '26) are the priority.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63840" y="2148840"/>
            <a:ext cx="370332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0" y="2221992"/>
            <a:ext cx="37033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91856" y="2276856"/>
            <a:ext cx="3447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⚡ Quick Win #3: Tigerpaw Hot-Intent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991856" y="2532888"/>
            <a:ext cx="34472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80–100 known migration intent accounts. Assign personally by Evan or Ryan. Goal: 30–40 closed by end Q2. $700 avg × 35 = $24,500 MRR wave. Also: NinjaOne 9 accounts / $6,900 MRR — integration ships Apollo 2.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74320" y="3364992"/>
            <a:ext cx="11430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BILLING CROSS-SELL — OPEN DEALS (PRIORITY ORDER)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3611880"/>
            <a:ext cx="11430000" cy="256032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Account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6576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Rep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3504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Stage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7724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MRR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1440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Action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3867912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Losh Network Services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365760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03504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5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777240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$1,004</a:t>
            </a:r>
            <a:endParaRPr lang="en-US" sz="820" dirty="0"/>
          </a:p>
        </p:txBody>
      </p:sp>
      <p:sp>
        <p:nvSpPr>
          <p:cNvPr id="43" name="Text 41"/>
          <p:cNvSpPr/>
          <p:nvPr/>
        </p:nvSpPr>
        <p:spPr>
          <a:xfrm>
            <a:off x="9144000" y="3895344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CLOSE THIS WEEK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74320" y="4105656"/>
            <a:ext cx="11430000" cy="219456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Clear Rate PSA III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365760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Jamie Butler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603504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4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777240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$500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9144000" y="4133088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980B9"/>
                </a:solidFill>
              </a:rPr>
              <a:t>Advance to close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" y="4343400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Tricom Technology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365760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603504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3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777240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$1,220</a:t>
            </a:r>
            <a:endParaRPr lang="en-US" sz="820" dirty="0"/>
          </a:p>
        </p:txBody>
      </p:sp>
      <p:sp>
        <p:nvSpPr>
          <p:cNvPr id="55" name="Text 53"/>
          <p:cNvSpPr/>
          <p:nvPr/>
        </p:nvSpPr>
        <p:spPr>
          <a:xfrm>
            <a:off x="9144000" y="437083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39C12"/>
                </a:solidFill>
              </a:rPr>
              <a:t>Accelerate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74320" y="4581144"/>
            <a:ext cx="11430000" cy="219456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VTX Telecom</a:t>
            </a:r>
            <a:endParaRPr lang="en-US" sz="820" dirty="0"/>
          </a:p>
        </p:txBody>
      </p:sp>
      <p:sp>
        <p:nvSpPr>
          <p:cNvPr id="58" name="Text 56"/>
          <p:cNvSpPr/>
          <p:nvPr/>
        </p:nvSpPr>
        <p:spPr>
          <a:xfrm>
            <a:off x="365760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Joseph Abarno</a:t>
            </a:r>
            <a:endParaRPr lang="en-US" sz="820" dirty="0"/>
          </a:p>
        </p:txBody>
      </p:sp>
      <p:sp>
        <p:nvSpPr>
          <p:cNvPr id="59" name="Text 57"/>
          <p:cNvSpPr/>
          <p:nvPr/>
        </p:nvSpPr>
        <p:spPr>
          <a:xfrm>
            <a:off x="603504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1</a:t>
            </a:r>
            <a:endParaRPr lang="en-US" sz="820" dirty="0"/>
          </a:p>
        </p:txBody>
      </p:sp>
      <p:sp>
        <p:nvSpPr>
          <p:cNvPr id="60" name="Text 58"/>
          <p:cNvSpPr/>
          <p:nvPr/>
        </p:nvSpPr>
        <p:spPr>
          <a:xfrm>
            <a:off x="777240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$1,680</a:t>
            </a:r>
            <a:endParaRPr lang="en-US" sz="820" dirty="0"/>
          </a:p>
        </p:txBody>
      </p:sp>
      <p:sp>
        <p:nvSpPr>
          <p:cNvPr id="61" name="Text 59"/>
          <p:cNvSpPr/>
          <p:nvPr/>
        </p:nvSpPr>
        <p:spPr>
          <a:xfrm>
            <a:off x="9144000" y="4608576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3A5C"/>
                </a:solidFill>
              </a:rPr>
              <a:t>Qualify fast (largest)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74320" y="4818888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Vision CTS PSA II</a:t>
            </a:r>
            <a:endParaRPr lang="en-US" sz="820" dirty="0"/>
          </a:p>
        </p:txBody>
      </p:sp>
      <p:sp>
        <p:nvSpPr>
          <p:cNvPr id="64" name="Text 62"/>
          <p:cNvSpPr/>
          <p:nvPr/>
        </p:nvSpPr>
        <p:spPr>
          <a:xfrm>
            <a:off x="365760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03504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1</a:t>
            </a:r>
            <a:endParaRPr lang="en-US" sz="820" dirty="0"/>
          </a:p>
        </p:txBody>
      </p:sp>
      <p:sp>
        <p:nvSpPr>
          <p:cNvPr id="66" name="Text 64"/>
          <p:cNvSpPr/>
          <p:nvPr/>
        </p:nvSpPr>
        <p:spPr>
          <a:xfrm>
            <a:off x="777240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$1,260</a:t>
            </a:r>
            <a:endParaRPr lang="en-US" sz="820" dirty="0"/>
          </a:p>
        </p:txBody>
      </p:sp>
      <p:sp>
        <p:nvSpPr>
          <p:cNvPr id="67" name="Text 65"/>
          <p:cNvSpPr/>
          <p:nvPr/>
        </p:nvSpPr>
        <p:spPr>
          <a:xfrm>
            <a:off x="9144000" y="4846320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63A"/>
                </a:solidFill>
              </a:rPr>
              <a:t>⚡ CW renewal Apr '26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6 — 5× MATH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5× Requires Three Levers. None Alone Is Enough. Timeline: 12–18 Months.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$9,526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Current Mo. Avg (1.0×)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6324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7296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$47,630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13639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5× Target / Month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5216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6188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$38,104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2531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Monthly Gap to Close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641080" y="1115568"/>
            <a:ext cx="2926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50808" y="1161288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9.2% → 15%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714232" y="1609344"/>
            <a:ext cx="2779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Win Rate Journey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212848"/>
            <a:ext cx="3749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Fix Execution Only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233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980B9"/>
                </a:solidFill>
              </a:rPr>
              <a:t>$17,000/mo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0233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63A"/>
                </a:solidFill>
              </a:rPr>
              <a:t>1.8×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233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200 closures · 13% win rate · $650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Show-rate program deployed, reps coached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2212848"/>
            <a:ext cx="3749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3425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Execution + Near-Term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3425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$32,000/mo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33425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63A"/>
                </a:solidFill>
              </a:rPr>
              <a:t>3.4×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33425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250 closures · 14% win rate · $900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Billing cross-sell + Tigerpaw activated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Some early IT MSP wins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38160" y="2212848"/>
            <a:ext cx="3749040" cy="2011680"/>
          </a:xfrm>
          <a:prstGeom prst="rect">
            <a:avLst/>
          </a:prstGeom>
          <a:solidFill>
            <a:srgbClr val="FFFFFF"/>
          </a:solidFill>
          <a:ln w="38100">
            <a:solidFill>
              <a:srgbClr val="27AE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6617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C — TARGET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Full ICP Shift (5×)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6617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$54,000/mo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26617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</a:rPr>
              <a:t>5.7×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6617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350–400 closures · 15% win rate · $950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IT MSP ICP dominant · CW/Kaseya displacement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Full GTM motion mature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4352544"/>
            <a:ext cx="11430000" cy="87782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" y="451713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📐 What Has to Be True for 5× (12–18 Month Roadmap)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75488" y="4828032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Q1 2026: Fix show rates · Close Billing pipeline · Apollo 2 re-engagements (March) · Tigerpaw hot-intent activation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" y="5175504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Q2–Q3 2026: Apollo 2 ships (April) · IT MSP messaging built · CW/Kaseya displacement motion launched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5488" y="552297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Q3–Q4 2026: IT MSP wins compound · Avg deal rises to $900–1,000 · Flywheel turns: each MSP win = 3–5 referrals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RECOMMENDATIONS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8 Actions, Prioritized by Speed-to-Impact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15568"/>
            <a:ext cx="365760" cy="7315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316736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170432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540"/>
                </a:solidFill>
              </a:rPr>
              <a:t>Interview Dahlstrom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13232" y="138988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4F63"/>
                </a:solidFill>
              </a:rPr>
              <a:t>2.6% no-show vs. 35% team avg. Extract his confirmation/qualification playbook. Deploy team-wide in 30 days.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13232" y="166420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Sales Mgmt — This Week  |  +$3–5K/mo immediately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74320" y="1920240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1920240"/>
            <a:ext cx="365760" cy="7315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21214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3232" y="1975104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540"/>
                </a:solidFill>
              </a:rPr>
              <a:t>Work Billing Pipeline with Mgmt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13232" y="2194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4F63"/>
                </a:solidFill>
              </a:rPr>
              <a:t>Losh Network (Stage 5) + Vision CTS (CW renewal April). 30% close rate = 3–4 closes from 11 deals.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13232" y="2468880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Ryan Koontz — This Week  |  ~$3K MRR fast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74320" y="2724912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2724912"/>
            <a:ext cx="365760" cy="7315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926080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2779776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540"/>
                </a:solidFill>
              </a:rPr>
              <a:t>Launch Apollo 2 Re-Engagement (March)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13232" y="29992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4F63"/>
                </a:solidFill>
              </a:rPr>
              <a:t>"The feature you needed ships next month." 98 unlocked deals / $101,759 MRR. Work top-down by value.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13232" y="327355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Sales + Marketing — March  |  $10–25K MRR / 90 days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3529584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529584"/>
            <a:ext cx="365760" cy="7315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3730752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3232" y="358444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540"/>
                </a:solidFill>
              </a:rPr>
              <a:t>Activate Tigerpaw Hot-Intent List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13232" y="380390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4F63"/>
                </a:solidFill>
              </a:rPr>
              <a:t>80–100 migration-intent accounts. Personal outreach from Evan/Ryan. Close 30–40 by Q2.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13232" y="40782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Evan + Ryan — Q1–Q2  |  ~$20–25K MRR wave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72200" y="1115568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72200" y="1115568"/>
            <a:ext cx="365760" cy="7315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6172200" y="1316736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611112" y="1170432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540"/>
                </a:solidFill>
              </a:rPr>
              <a:t>Coach Davies: Pipeline Leaking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611112" y="138988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4F63"/>
                </a:solidFill>
              </a:rPr>
              <a:t>$11,630 open pipeline, 6.3% win rate. Manager-assisted deal reviews. If at median: +$5K MRR.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611112" y="166420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Sales Mgmt — Immediate  |  +$3–5K MRR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172200" y="1920240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72200" y="1920240"/>
            <a:ext cx="365760" cy="7315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21214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611112" y="1975104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540"/>
                </a:solidFill>
              </a:rPr>
              <a:t>Study Herndon's Buyer Profile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611112" y="2194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4F63"/>
                </a:solidFill>
              </a:rPr>
              <a:t>$1,153 avg deal (2× team). Identify what industries/sizes he targets — this is the high-value ICP template.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611112" y="2468880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Sales Ops / Revay — Q1  |  Strategic ICP shift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172200" y="2724912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72200" y="2724912"/>
            <a:ext cx="365760" cy="7315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5" name="Text 43"/>
          <p:cNvSpPr/>
          <p:nvPr/>
        </p:nvSpPr>
        <p:spPr>
          <a:xfrm>
            <a:off x="6172200" y="2926080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611112" y="2779776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540"/>
                </a:solidFill>
              </a:rPr>
              <a:t>Build IT MSP Displacement Motion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611112" y="29992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4F63"/>
                </a:solidFill>
              </a:rPr>
              <a:t>CW/Kaseya/Halo targets. Currently 0 competitive wins. Needs battlecards, reference cases, targeted outreach.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11112" y="3273552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Marketing + Sales — Q2–Q3  |  3–5× at scale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172200" y="3529584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72200" y="3529584"/>
            <a:ext cx="365760" cy="7315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51" name="Text 49"/>
          <p:cNvSpPr/>
          <p:nvPr/>
        </p:nvSpPr>
        <p:spPr>
          <a:xfrm>
            <a:off x="6172200" y="3730752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611112" y="358444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540"/>
                </a:solidFill>
              </a:rPr>
              <a:t>Diagnose November Collapse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611112" y="380390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A4F63"/>
                </a:solidFill>
              </a:rPr>
              <a:t>Same volume as September, half the win rate. What changed? Answers prevent January from becoming permanent.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11112" y="40782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Sales Ops — Q1  |  Prevents further decline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Rev.io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Rev.io PSA Web — GTM Performance Analysis</dc:title>
  <dc:subject>PSA Web GTM Performance Analysis</dc:subject>
  <dc:creator>Revay AI</dc:creator>
  <cp:lastModifiedBy>Revay AI</cp:lastModifiedBy>
  <cp:revision>1</cp:revision>
  <dcterms:created xsi:type="dcterms:W3CDTF">2026-02-24T17:24:22Z</dcterms:created>
  <dcterms:modified xsi:type="dcterms:W3CDTF">2026-02-24T17:24:22Z</dcterms:modified>
</cp:coreProperties>
</file>