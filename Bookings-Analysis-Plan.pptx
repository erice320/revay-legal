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51960"/>
            <a:ext cx="1219200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Bookings Performance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Plan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74320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structured approach to diagnosing and systematically improving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PSA and Cyber Protect bookings to support 5–10× growth.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Rev.io  ·  Sales Intelligence  ·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Targets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building toward — two products, two distinct growth plays.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5394960" cy="320040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PSA Web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5×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5x current monthly PSA bookings (MRR) through systematic funnel improvement, rep performance optimization, and Apollo 2 re-engagement — using the pipeline that already exists.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394960" cy="320040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80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 Protect (RMM &amp; EDR)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57276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5–10×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5–10x on a newer motion requires its own dedicated playbook — ICP clarity, potential dedicated sales motion, and understanding whether this is standalone or bundled with PSA.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Sales System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already tells us where to look — and it's not the product.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3657600" cy="2286000"/>
          </a:xfrm>
          <a:prstGeom prst="rect">
            <a:avLst/>
          </a:prstGeom>
          <a:solidFill>
            <a:srgbClr val="2D3E6A"/>
          </a:solidFill>
          <a:ln w="12700">
            <a:solidFill>
              <a:srgbClr val="3B4F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2025 losses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to sales execution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(no-shows, timing,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non-responsive)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657600" cy="2286000"/>
          </a:xfrm>
          <a:prstGeom prst="rect">
            <a:avLst/>
          </a:prstGeom>
          <a:solidFill>
            <a:srgbClr val="2D3E6A"/>
          </a:solidFill>
          <a:ln w="12700">
            <a:solidFill>
              <a:srgbClr val="3B4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417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losses due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gaps —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is in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rep's hands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280160"/>
            <a:ext cx="3657600" cy="2286000"/>
          </a:xfrm>
          <a:prstGeom prst="rect">
            <a:avLst/>
          </a:prstGeom>
          <a:solidFill>
            <a:srgbClr val="2D3E6A"/>
          </a:solidFill>
          <a:ln w="12700">
            <a:solidFill>
              <a:srgbClr val="3B4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417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$99K+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 unlocked by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Apollo 2 — re-engagement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exists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now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11018520" cy="5943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94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Implication: The path to 5x isn't more leads — it's finding where deals die and fixing those stages. Rep performance variance is likely the biggest single lever.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Phases of Analysis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Sequenced from establishing the baseline to building the ongoing operating model.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566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356616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43000"/>
            <a:ext cx="457200" cy="1554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4300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12527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463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the Baseline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18288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we actually doing right now?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60520" y="1143000"/>
            <a:ext cx="3566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1143000"/>
            <a:ext cx="356616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1143000"/>
            <a:ext cx="457200" cy="1554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4160520" y="114300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12527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1463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Funnel Autopsy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09160" y="18288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exactly are deals dying?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1143000"/>
            <a:ext cx="3566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09560" y="1143000"/>
            <a:ext cx="356616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1143000"/>
            <a:ext cx="457200" cy="1554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114300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58200" y="12527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58200" y="1463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 Performance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58200" y="18288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winning look like, and who's doing it?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1480" y="2834640"/>
            <a:ext cx="3566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2834640"/>
            <a:ext cx="35661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" y="2834640"/>
            <a:ext cx="457200" cy="15544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8346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0120" y="29443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" y="3154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ICP &amp; Segment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60120" y="35204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we chasing the right accounts?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60520" y="2834640"/>
            <a:ext cx="3566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60520" y="2834640"/>
            <a:ext cx="356616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4160520" y="2834640"/>
            <a:ext cx="457200" cy="1554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28346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09160" y="29443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3154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Win Pipeline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709160" y="35204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close in the next 60–90 days?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909560" y="2834640"/>
            <a:ext cx="3566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09560" y="2834640"/>
            <a:ext cx="3566160" cy="640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3" name="Shape 41"/>
          <p:cNvSpPr/>
          <p:nvPr/>
        </p:nvSpPr>
        <p:spPr>
          <a:xfrm>
            <a:off x="7909560" y="2834640"/>
            <a:ext cx="457200" cy="1554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7909560" y="28346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8458200" y="29443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58200" y="31546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5× Math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458200" y="35204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has to be true at every stage to hit the number?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"/>
            <a:ext cx="502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the Baseline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are we actually doing right now?"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45720" cy="3657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PSA and Cyber Protect wins + MRR — last 12 months, trended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92808"/>
            <a:ext cx="45720" cy="3657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snapshot — open deals by product, stage, rep, and 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45720" cy="3657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597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rate by product — PSA vs. Cyber Protect are fundamentally different machines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45720" cy="3657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266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deal size by product, trended over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45720" cy="3657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sales cycle (days from created → closed) by product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72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744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Deliverable: Baseline scorecard — the single source of truth everything else measures against. Sets the real 5x starting point in actual dollars and reveals whether we are currently growing, flat, or declining.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"/>
            <a:ext cx="502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Funnel Autopsy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"Where exactly are deals dying — and how many?"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457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Stage-by-stage conversion rates for PSA and Cyber Protect separately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92808"/>
            <a:ext cx="457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 reason breakdown by funnel stage — is execution failing at discovery, demo, or close?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457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597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Stalled deals — open opportunities with no activity in 30+ days (quiet pipeline bleed)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457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266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No-show and non-responsive rate — likely the single biggest leak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4572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Non-product losses from last 90 days — immediate re-engagement candidates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72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744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Deliverable: Funnel conversion waterfall by product. Tells us whether this is a volume problem (not enough at top), a conversion problem (dying mid-funnel), or a close problem — each requires a completely different fix.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"/>
            <a:ext cx="502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 Performance Benchmarking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does winning look like, and who is doing it?"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45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rate by rep, by product — find outliers in both directions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92808"/>
            <a:ext cx="45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cycle time by rep — what separates fast closers from slow?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45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597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volume per rep — are some running too few deals to generate signal?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45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266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hygiene per rep — stage accuracy and activity logging quality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457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performer profile — what behaviors and segments do winners share?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72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744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Deliverable: Rep ranking on PSA and Cyber Protect separately. Identifies who to model, who to coach, and whether there is a talent or capacity constraint hiding in the data. Top performer patterns become the new standard playbook.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"/>
            <a:ext cx="502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ICP &amp; Segment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"Are we chasing the right accounts?"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457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rate by customer segment — MSP, telecom, security/alarm, AV integrator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92808"/>
            <a:ext cx="457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rate by deal size — are small deals dragging the average or closing faster?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457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597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Geographic analysis — where are we winning that we are not investing in?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457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266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Lost-to-competitor breakdown by segment — who is winning where and why?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457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 Protect ICP deep-dive — ideal buyer vs. who we are actually pitching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72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744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Deliverable: ICP scoring model for both products. Tells the sales team which opportunities to pursue vs. deprioritize — simultaneously improves time-per-deal efficiency and overall win rate.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"/>
            <a:ext cx="502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Win Pipeline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can we close in the next 60–90 days without changing anything structural?"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457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Apollo 2 re-engagement — 98 deals / $99K+ MRR where product gaps are now resolved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92808"/>
            <a:ext cx="457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NinjaOne integration is live — 9 accounts / $6,900 MRR: call this week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457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597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Stalled open deals 60+ days — intervention list for sales leadership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457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266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Non-product losses from Q3–Q4 2025 (timing, no-shows) — worth a re-touch now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457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 Protect cross-sell into existing PSA base — who is on PSA but not Cyber Protect?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72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744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Deliverable: A prioritized call list for the sales team this week — completely separate from structural changes. Revenue that can move now with existing resources and zero new investment.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"/>
            <a:ext cx="5029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45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5× Math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8503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exactly has to be true at every stage each month to hit the number?"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70432"/>
            <a:ext cx="1097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4572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backward from the 5x target using actual Phase 1 baseline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92808"/>
            <a:ext cx="4572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9280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current close rate + deal size, what monthly pipeline volume is required?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4572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5973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generate that pipeline, what meeting and outreach volume is needed?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26664"/>
            <a:ext cx="4572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0266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current rep capacity, is this a volume, conversion, or headcount problem?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93592"/>
            <a:ext cx="45720" cy="3657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935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two or three highest-leverage variables and fix those first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72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10744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Deliverable: The operating math — a management model with specific monthly targets at every funnel stage. This becomes the ongoing sales leadership operating cadence and the framework for tracking progress toward 5x.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 Protect Requires Its Own Playbook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5–10x on a newer product line means answering different questions before running the same analysis.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11155680" cy="59436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978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Standalone or bundled?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119786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Cyber Protect almost always sold with PSA, or does it have its own ICP and motion? If bundled, the lever is PSA velocity. If standalone, it needs its own top-of-funnel engine.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810512"/>
            <a:ext cx="11155680" cy="59436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653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Dedicated reps or shared?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186537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the same reps selling both? If so, are they prioritizing larger PSA deals and effectively ignoring Cyber Protect? This is a common and silent failure mode.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478024"/>
            <a:ext cx="11155680" cy="59436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3288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📣 Where are leads coming from?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253288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Inbound, outbound, channel, or referral? If there is minimal top-of-funnel for Cyber Protect specifically, the problem is demand generation — not conversion.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11155680" cy="59436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Who is the ideal buyer?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the same MSP as PSA, or does it skew toward security firms, alarm companies, or a different segment? Win rate data will tell us where the product naturally resonates.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813048"/>
            <a:ext cx="11155680" cy="594360"/>
          </a:xfrm>
          <a:prstGeom prst="rect">
            <a:avLst/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6791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What are the current economics?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160" y="386791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deal size, cycle time, and win rate for Cyber Protect vs. PSA. Before setting a 5–10x target precisely, we need to know if 5x means 10 more deals per month or 50.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Queries to Run Today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flows from these three. We run these before building the full analysis.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969264"/>
            <a:ext cx="11155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111556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64008" cy="10515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1252728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Bookings Trend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6184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PSA and Cyber Protect wins + MRR per month for the last 12 months. Establishes the real baseline and reveals whether we are growing, flat, or declining going into the 5x push.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111556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31720"/>
            <a:ext cx="64008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3172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2441448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Pipeline by Product &amp; Stage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80720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pipeline snapshot — volume, stage distribution, rep ownership, and age. Tells us immediately whether there is enough coverage to hit near-term targets.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520440"/>
            <a:ext cx="111556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CCCCCC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20440"/>
            <a:ext cx="64008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2044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463040" y="3630168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Rate &amp; Cycle Time by Rep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399592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rate and average days-to-close by rep for PSA and Cyber Protect separately. Finds outliers immediately — top performers are the model, low performers are the coaching opportunity.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709160"/>
            <a:ext cx="1115568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3659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confirmation: Is Cyber Protect = "RMM &amp; EDR" in Salesforce? Confirming this mapping ensures all analysis is pointed at the right deals from day one.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Execute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feedback on this plan — once aligned, Phase 1 queries run same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solidFill>
            <a:srgbClr val="1F2D4A"/>
          </a:solidFill>
          <a:ln w="9525">
            <a:solidFill>
              <a:srgbClr val="2B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64008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Align on this plan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give feedback, confirm scope and sequencing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11096"/>
            <a:ext cx="11064240" cy="548640"/>
          </a:xfrm>
          <a:prstGeom prst="rect">
            <a:avLst/>
          </a:prstGeom>
          <a:solidFill>
            <a:srgbClr val="1F2D4A"/>
          </a:solidFill>
          <a:ln w="9525">
            <a:solidFill>
              <a:srgbClr val="2B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11096"/>
            <a:ext cx="64008" cy="54864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95681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Confirm SF product mapping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956816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Cyber Protect = RMM &amp; EDR in Salesforce? Any other product types to include?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542032"/>
            <a:ext cx="11064240" cy="548640"/>
          </a:xfrm>
          <a:prstGeom prst="rect">
            <a:avLst/>
          </a:prstGeom>
          <a:solidFill>
            <a:srgbClr val="1F2D4A"/>
          </a:solidFill>
          <a:ln w="9525">
            <a:solidFill>
              <a:srgbClr val="2B3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42032"/>
            <a:ext cx="64008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5877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Phase 5 starts now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58775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NinjaOne accounts + Apollo 2 re-engagement list → sales team this week, no waiting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11064240" cy="548640"/>
          </a:xfrm>
          <a:prstGeom prst="rect">
            <a:avLst/>
          </a:prstGeom>
          <a:solidFill>
            <a:srgbClr val="1F2D4A"/>
          </a:solidFill>
          <a:ln w="9525">
            <a:solidFill>
              <a:srgbClr val="2B3D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72968"/>
            <a:ext cx="64008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18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Phase 1–2 same 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218688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and funnel queries run immediately on confirmation — first report in 24h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803904"/>
            <a:ext cx="11064240" cy="548640"/>
          </a:xfrm>
          <a:prstGeom prst="rect">
            <a:avLst/>
          </a:prstGeom>
          <a:solidFill>
            <a:srgbClr val="1F2D4A"/>
          </a:solidFill>
          <a:ln w="9525">
            <a:solidFill>
              <a:srgbClr val="2B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03904"/>
            <a:ext cx="64008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4962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 Weekly cadence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84962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Ongoing Salesforce pulls, updated dashboards, and flag-raising as patterns emerge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Revay · AI Chief of Staff to Evan Rice, Rev.io ·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2026-02-24T14:15:59Z</dcterms:created>
  <dcterms:modified xsi:type="dcterms:W3CDTF">2026-02-24T14:15:59Z</dcterms:modified>
</cp:coreProperties>
</file>