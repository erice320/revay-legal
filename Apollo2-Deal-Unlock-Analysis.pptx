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Apollo 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Unlock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2025 closed-lost deals become re-engageable when Apollo 2 ships?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2286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204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Rev.io  ·  February 2026  ·  Prepared by Revay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 2025 Closed-Lost × Notion Apollo 2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UNLOCKED BY APOLLO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$99,564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deals — all blockers addressed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27432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344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 UNLOCKED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$31,065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1947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deals — some gaps remain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97280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344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(NO A2 COVERAGE)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4652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$12,541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1947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deals — needs future roadmap work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81160" y="109728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1160" y="1097280"/>
            <a:ext cx="237744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12344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FEATURE-GAP MRR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418320" y="14447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$143K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418320" y="19476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2,269 total 2025 losses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514600"/>
            <a:ext cx="112471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57860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Context: Only 133 of 2,269 closed-lost deals were flagged as lost due to missing features (6%). The remaining 94% were lost to timing, no-shows, non-responsiveness, or price. The opportunity below is pure feature-recovery pipeline.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11247120" cy="1234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204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67% of feature-gap deals are FULLY unlocked by Apollo 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$99,564 in recoverable MRR becomes re-engageable April 1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Act Now — NinjaOne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deals / $6,900 MRR — available this week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124712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RMM-NinjaOne Phase 1 is 85% complete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Revised completion date: February 24, 2026 — TODAY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to re-engage immediately: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63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Data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306324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063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Yeti Networks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306324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063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Clever Tech Pros ×2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356616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DefenTec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356616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SeaGlass Technology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69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SelectQoS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406908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4069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Tecflow Technology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4069080"/>
            <a:ext cx="35661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4069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Voytel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$6,900 MRR — fastest re-engagement opportunity in the pipeline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Gaps — Ranked by MRR Unlocked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Apollo 2 addresses the top drivers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1247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Gap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Unlocked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 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11247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63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 deals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$93,337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481328"/>
            <a:ext cx="2103120" cy="21031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48132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764792"/>
            <a:ext cx="1124712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10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810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deals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$40,151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0" y="1828800"/>
            <a:ext cx="2103120" cy="21031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2880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#1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112264"/>
            <a:ext cx="11247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1579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Opportunities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157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deals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157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$37,156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0" y="2176272"/>
            <a:ext cx="2103120" cy="210312"/>
          </a:xfrm>
          <a:prstGeom prst="rect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217627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Roadmap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459736"/>
            <a:ext cx="1124712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5054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/ GPS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2505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deals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$30,496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0" y="2523744"/>
            <a:ext cx="2103120" cy="210312"/>
          </a:xfrm>
          <a:prstGeom prst="rect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252374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807208"/>
            <a:ext cx="11247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852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Billing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2852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deals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$25,988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0" y="2871216"/>
            <a:ext cx="2103120" cy="21031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287121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154680"/>
            <a:ext cx="1124712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200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Fields / Reporting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3200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deals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3200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$24,171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44000" y="3218688"/>
            <a:ext cx="2103120" cy="210312"/>
          </a:xfrm>
          <a:prstGeom prst="rect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9720" y="32186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502152"/>
            <a:ext cx="11247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547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Ticket Views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3547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deals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5800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$22,765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144000" y="3566160"/>
            <a:ext cx="2103120" cy="21031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356616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849624"/>
            <a:ext cx="1124712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8953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Portal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754880" y="3895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deals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58000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$12,479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44000" y="3913632"/>
            <a:ext cx="2103120" cy="210312"/>
          </a:xfrm>
          <a:prstGeom prst="rect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9720" y="391363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Roadmap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197096"/>
            <a:ext cx="11247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2428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754880" y="4242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deals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58000" y="42428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$12,116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144000" y="4261104"/>
            <a:ext cx="2103120" cy="210312"/>
          </a:xfrm>
          <a:prstGeom prst="rect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89720" y="426110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65760" y="4544568"/>
            <a:ext cx="1124712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590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NinjaOne RMM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754880" y="4590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deals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858000" y="4590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$6,900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144000" y="4608576"/>
            <a:ext cx="2103120" cy="21031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89720" y="460857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Act Now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15 Re-Engagement Targets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lost ONLY because of features Apollo 2 delivers — start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1247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0789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10789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Gaps (all in Apollo 2)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8988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2646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4264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Telsco Security Systems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4264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$4,290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144475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4447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35240" y="142646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Ticket Views, Sales Opps, CPQ, Custom Fields, Prog. Billing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68706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72364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17236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Guardian Asset Security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17236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$3,900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74193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7419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35240" y="172364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Netsuite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198424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02082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20208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Acoustic Design Systems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20208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$3,810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203911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0391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35240" y="202082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Customer Portal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28142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31800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23180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NetWatch, Inc.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23180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$3,500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233629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23362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635240" y="231800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Mobile/GPS, Sales Opps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57860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615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261518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Sentry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0" y="26151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$2,800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263347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26334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35240" y="261518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Sales Opps, Custom Fields, Prog. Billing, Job Costing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287578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91236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29123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Oasis Smart Homes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0" y="29123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$2,450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46520" y="293065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29306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35240" y="291236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Mobile/GPS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17296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20954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" y="32095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Ambit Solutions, LLC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0" y="32095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$2,450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46520" y="322783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32278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635240" y="320954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Sales Opps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347014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50672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22960" y="35067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Affiliated Technology Solutions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29200" y="35067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$2,450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46520" y="352501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6" name="Text 64"/>
          <p:cNvSpPr/>
          <p:nvPr/>
        </p:nvSpPr>
        <p:spPr>
          <a:xfrm>
            <a:off x="6446520" y="35250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635240" y="350672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Enhanced Ticket Views, Custom Fields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76732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80390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22960" y="38039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SWEPT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029200" y="38039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$2,420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446520" y="382219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3" name="Text 71"/>
          <p:cNvSpPr/>
          <p:nvPr/>
        </p:nvSpPr>
        <p:spPr>
          <a:xfrm>
            <a:off x="6446520" y="38221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635240" y="380390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Mobile/GPS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" y="406450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1010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22960" y="410108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Atlanta Home Theater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5029200" y="41010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$2,100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446520" y="411937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0" name="Text 78"/>
          <p:cNvSpPr/>
          <p:nvPr/>
        </p:nvSpPr>
        <p:spPr>
          <a:xfrm>
            <a:off x="6446520" y="41193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635240" y="410108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Sales Opps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65760" y="436168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439826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22960" y="43982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CCI Network Services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029200" y="43982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$2,100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446520" y="4416552"/>
            <a:ext cx="100584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7" name="Text 85"/>
          <p:cNvSpPr/>
          <p:nvPr/>
        </p:nvSpPr>
        <p:spPr>
          <a:xfrm>
            <a:off x="6446520" y="44165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Q4-2025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635240" y="439826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Enhanced Ticket Views, Sales Opps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65760" y="465886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69544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22960" y="46954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Tech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5029200" y="46954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$1,850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446520" y="471373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4" name="Text 92"/>
          <p:cNvSpPr/>
          <p:nvPr/>
        </p:nvSpPr>
        <p:spPr>
          <a:xfrm>
            <a:off x="6446520" y="47137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635240" y="469544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PM, Inventory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65760" y="495604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499262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22960" y="49926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Security101 – West Palm Beach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5029200" y="49926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$1,554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446520" y="501091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1" name="Text 99"/>
          <p:cNvSpPr/>
          <p:nvPr/>
        </p:nvSpPr>
        <p:spPr>
          <a:xfrm>
            <a:off x="6446520" y="5010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635240" y="499262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Sales Opps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65760" y="5253228"/>
            <a:ext cx="11247120" cy="2880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528980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822960" y="52898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 Outfitters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5029200" y="52898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$1,514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6446520" y="530809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46520" y="53080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635240" y="528980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65760" y="5550408"/>
            <a:ext cx="1124712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7200" y="55869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22960" y="558698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Security Systems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5029200" y="55869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$1,480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6446520" y="5605272"/>
            <a:ext cx="100584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5" name="Text 113"/>
          <p:cNvSpPr/>
          <p:nvPr/>
        </p:nvSpPr>
        <p:spPr>
          <a:xfrm>
            <a:off x="6446520" y="56052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Q3-2025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7635240" y="558698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Apollo 2 Feature Readiness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and expected ship dates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12471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Complete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 Ready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362456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99032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NinjaOne RMM Phase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453896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453896"/>
            <a:ext cx="233172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39903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29800" y="13990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24,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655064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69164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Ticketing Enhancements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746504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746504"/>
            <a:ext cx="260604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6916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29800" y="16916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 soon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47672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98424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Apollo 1 Enhancements (Gantt, RBAC)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2039112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2039112"/>
            <a:ext cx="192024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19842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29800" y="19842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Apr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240280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27685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Reports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2331720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2331720"/>
            <a:ext cx="178308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0" y="227685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29800" y="22768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Apr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532888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569464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Netsuite for Billing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2624328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2624328"/>
            <a:ext cx="164592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8" name="Text 36"/>
          <p:cNvSpPr/>
          <p:nvPr/>
        </p:nvSpPr>
        <p:spPr>
          <a:xfrm>
            <a:off x="9235440" y="25694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29800" y="25694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825496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862072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Milestones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2916936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0" y="2916936"/>
            <a:ext cx="13716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4" name="Text 42"/>
          <p:cNvSpPr/>
          <p:nvPr/>
        </p:nvSpPr>
        <p:spPr>
          <a:xfrm>
            <a:off x="9235440" y="286207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29800" y="28620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Apr 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118104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15468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Fields Multi-Layout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0" y="3209544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00800" y="3209544"/>
            <a:ext cx="13716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0" name="Text 48"/>
          <p:cNvSpPr/>
          <p:nvPr/>
        </p:nvSpPr>
        <p:spPr>
          <a:xfrm>
            <a:off x="9235440" y="315468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829800" y="3154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Apr 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410712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344728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 Integration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0" y="3502152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0" y="3502152"/>
            <a:ext cx="27432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9235440" y="344728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829800" y="34472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20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3703320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37398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Response Integration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0" y="3794760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Shape 59"/>
          <p:cNvSpPr/>
          <p:nvPr/>
        </p:nvSpPr>
        <p:spPr>
          <a:xfrm>
            <a:off x="6400800" y="3794760"/>
            <a:ext cx="41148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2" name="Text 60"/>
          <p:cNvSpPr/>
          <p:nvPr/>
        </p:nvSpPr>
        <p:spPr>
          <a:xfrm>
            <a:off x="9235440" y="37398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829800" y="3739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27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995928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4032504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RMM-N-Able Phase 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400800" y="4087368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Shape 65"/>
          <p:cNvSpPr/>
          <p:nvPr/>
        </p:nvSpPr>
        <p:spPr>
          <a:xfrm>
            <a:off x="6400800" y="4087368"/>
            <a:ext cx="27432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8" name="Text 66"/>
          <p:cNvSpPr/>
          <p:nvPr/>
        </p:nvSpPr>
        <p:spPr>
          <a:xfrm>
            <a:off x="9235440" y="403250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829800" y="40325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31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4288536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325112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Costing &amp; Profitability (Priority #1)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400800" y="4379976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Text 71"/>
          <p:cNvSpPr/>
          <p:nvPr/>
        </p:nvSpPr>
        <p:spPr>
          <a:xfrm>
            <a:off x="9235440" y="432511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829800" y="43251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1 target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4581144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461772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Opportunity Management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400800" y="4672584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Text 76"/>
          <p:cNvSpPr/>
          <p:nvPr/>
        </p:nvSpPr>
        <p:spPr>
          <a:xfrm>
            <a:off x="9235440" y="461772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829800" y="4617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1 target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65760" y="4873752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" y="491032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Management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400800" y="4965192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Text 81"/>
          <p:cNvSpPr/>
          <p:nvPr/>
        </p:nvSpPr>
        <p:spPr>
          <a:xfrm>
            <a:off x="9235440" y="49103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829800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1 target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65760" y="5166360"/>
            <a:ext cx="11247120" cy="28346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2920" y="520293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Customer Portal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400800" y="5257800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Text 86"/>
          <p:cNvSpPr/>
          <p:nvPr/>
        </p:nvSpPr>
        <p:spPr>
          <a:xfrm>
            <a:off x="9235440" y="520293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9829800" y="52029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1 target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65760" y="5458968"/>
            <a:ext cx="11247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5495544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Tracking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400800" y="5550408"/>
            <a:ext cx="274320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3" name="Shape 91"/>
          <p:cNvSpPr/>
          <p:nvPr/>
        </p:nvSpPr>
        <p:spPr>
          <a:xfrm>
            <a:off x="6400800" y="5550408"/>
            <a:ext cx="137160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4" name="Text 92"/>
          <p:cNvSpPr/>
          <p:nvPr/>
        </p:nvSpPr>
        <p:spPr>
          <a:xfrm>
            <a:off x="9235440" y="549554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9829800" y="54955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1 target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Gaps NOT Covered by Apollo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Backlog input for product — $52,496 in blocked MRR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124712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These features were cited in lost deals but have no Apollo 2 coverage. Share with product as backlog prioritization input.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00200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QuickBooks Desktop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645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deals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$7,710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Sage50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1993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deals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$7,040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95144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95144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408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23408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deals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408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$6,500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642616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42616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6883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 Synnex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26883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deals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6883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$5,950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990088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990088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035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30358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deals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0358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$5,679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337560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337560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Subcontractors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23360" y="33832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383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$3,800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1600200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1600200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HubSpot Integration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84080" y="1645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deals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69848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$3,785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1947672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947672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Xero Integration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784080" y="1993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deals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69848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$3,450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2295144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2295144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23408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DTools Integration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784080" y="23408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deals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698480" y="23408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$2,837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26480" y="2642616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480" y="2642616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6263640" y="26883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Glue Integration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784080" y="26883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deals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698480" y="26883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$2,075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26480" y="2990088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2990088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0" name="Text 58"/>
          <p:cNvSpPr/>
          <p:nvPr/>
        </p:nvSpPr>
        <p:spPr>
          <a:xfrm>
            <a:off x="6263640" y="3035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Zoho Integration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784080" y="30358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deals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698480" y="30358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$1,600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26480" y="3337560"/>
            <a:ext cx="5577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26480" y="3337560"/>
            <a:ext cx="5486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626364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Nation Integration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784080" y="33832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deals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698480" y="3383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$1,570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65760" y="46634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blocked MRR: $52,496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Talking 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open the re-engagement conversation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5214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THE CALL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reason you walked away is being addressed. [Feature X] is part of our April 2026 release — Apollo 2. I'd love to get you back in for a demo the week of April 6th."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47088"/>
            <a:ext cx="64008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NINJAONE ACCOUNTS (9 DEALS)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NinjaOne RMM integration — Phase 1 Account Sync — is live as of this week. That was the piece you needed. Want to revisit?"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96896"/>
            <a:ext cx="64008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MANAGEMENT (75 DEALS)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85292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"Apollo 2 adds Job Costing, Project Billing, Milestones, and Activity Feeds on top of the core PM module we launched in September. It's a materially different product."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46704"/>
            <a:ext cx="64008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015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COSTING (32 DEALS)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60273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"Job Costing &amp; Profitability is Company Priority #1 in Apollo 2. Real-time margin by project — cost vs. budget vs. actual. Ships April 1."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96512"/>
            <a:ext cx="64008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51376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CALL — QUALIFY FIRST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35254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if the account signed with a competitor. Q4-2025 losses are highest priority — freshest. If they went with ConnectWise, lead with the switching cost angle.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923544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9601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NinjaOne Phase 1 is live → get calls out to 9 NinjaOne accounts ($6,900 MRR)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554480"/>
            <a:ext cx="923544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544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team reviews top 30 re-engagement list — assign accounts, check competitive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1–15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2148840"/>
            <a:ext cx="923544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148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Pre-warm Q4-2025 accounts: "We have news coming on the features you needed"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2743200"/>
            <a:ext cx="923544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7432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Apollo 2 ships — launch re-engagement campaign for all 96 fully-unlocked accounts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 6–10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3337560"/>
            <a:ext cx="923544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33375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week: targeted sessions for top-MRR accounts based on their specific feature gaps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68880" y="3931920"/>
            <a:ext cx="923544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9319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blocked feature list ($52K MRR) with product as backlog prioritization input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Revay · AI Chief of Staff to Evan Rice, Rev.io ·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2026-02-24T13:09:12Z</dcterms:created>
  <dcterms:modified xsi:type="dcterms:W3CDTF">2026-02-24T13:09:12Z</dcterms:modified>
</cp:coreProperties>
</file>